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6"/>
  </p:notesMasterIdLst>
  <p:sldIdLst>
    <p:sldId id="270" r:id="rId2"/>
    <p:sldId id="265" r:id="rId3"/>
    <p:sldId id="259" r:id="rId4"/>
    <p:sldId id="271" r:id="rId5"/>
    <p:sldId id="272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0" r:id="rId14"/>
    <p:sldId id="261" r:id="rId15"/>
  </p:sldIdLst>
  <p:sldSz cx="12192000" cy="6858000"/>
  <p:notesSz cx="6858000" cy="9144000"/>
  <p:embeddedFontLst>
    <p:embeddedFont>
      <p:font typeface="Barlow" panose="00000500000000000000" pitchFamily="2" charset="0"/>
      <p:regular r:id="rId17"/>
      <p:bold r:id="rId18"/>
      <p:italic r:id="rId19"/>
      <p:boldItalic r:id="rId20"/>
    </p:embeddedFont>
    <p:embeddedFont>
      <p:font typeface="K2D" panose="020B0604020202020204" charset="-34"/>
      <p:regular r:id="rId21"/>
      <p:bold r:id="rId22"/>
      <p:italic r:id="rId23"/>
      <p:boldItalic r:id="rId24"/>
    </p:embeddedFont>
    <p:embeddedFont>
      <p:font typeface="Readex Pro" panose="020B0604020202020204" charset="-78"/>
      <p:regular r:id="rId25"/>
      <p:bold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1F5CAA"/>
    <a:srgbClr val="CCFFFF"/>
    <a:srgbClr val="00AFEF"/>
    <a:srgbClr val="FFFFFF"/>
    <a:srgbClr val="27ACE3"/>
    <a:srgbClr val="1F5CA9"/>
    <a:srgbClr val="F2F2F2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1" autoAdjust="0"/>
    <p:restoredTop sz="82163" autoAdjust="0"/>
  </p:normalViewPr>
  <p:slideViewPr>
    <p:cSldViewPr snapToGrid="0">
      <p:cViewPr>
        <p:scale>
          <a:sx n="66" d="100"/>
          <a:sy n="66" d="100"/>
        </p:scale>
        <p:origin x="523" y="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40EBDB-B800-4472-951A-F0B6461FE765}" type="datetimeFigureOut">
              <a:rPr lang="en-US" smtClean="0"/>
              <a:t>08-Jan-26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A4555B-D98A-46B5-9D24-18A7874255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48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555B-D98A-46B5-9D24-18A78742552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797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555B-D98A-46B5-9D24-18A78742552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1399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69630-2562-60DF-A04F-31EE5AD8E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5E032C-F5EB-72BA-61B5-AABC41897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79848D-5637-C7B0-09AA-5795D09DB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0A9C44-02A3-3DCE-D8F2-B25889B487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555B-D98A-46B5-9D24-18A78742552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000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D4934-6247-640F-6A60-5688C131D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7B6F8-886B-6E3C-5776-D382FDB90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BC6F17-01CF-123A-EEC4-F48BE8DE8E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BE7B3A-6631-73C3-86F1-19EE0F453D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555B-D98A-46B5-9D24-18A78742552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6102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79534-B40C-AB69-3DB3-42BAFBE5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3BA083-9E39-30D6-A424-16A54E6EE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CE166-4825-A820-8DB1-48BD442C1E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3DA16-8539-00E7-D52E-2E7040073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555B-D98A-46B5-9D24-18A78742552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7293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766AB-C05C-97D8-B238-542FC04A4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606F1C-A587-229E-C825-ABF2E5EC8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08F75A-6276-734C-610E-C58B81FD5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110319-1E2D-35E9-2307-A55CA3659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555B-D98A-46B5-9D24-18A78742552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8152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22577-71D4-EC52-701F-AB105C28B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E694AE-6F3F-D027-1733-05954C9433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BF608-AB12-0EF7-EC68-5A246D1D3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832596-77DD-4D09-C426-7BEFC80CC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555B-D98A-46B5-9D24-18A78742552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6140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1B7BD-B047-FFAD-1A1A-07B0F65B6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316145-B3BB-7B48-0DC9-7C674D1D2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0C6CE8-79BD-B7F2-6317-A6F291D58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1A33C1-F9C3-B9D5-309D-EB87F92207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555B-D98A-46B5-9D24-18A78742552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2481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25DB8-665C-C0DD-A955-20DE79D6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BDDCB-3F3C-AFC1-E946-09F620235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FFC2A7-8EF0-6856-7D27-3A348FBD1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E60FA-57E4-202A-8E05-0FC6D29996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555B-D98A-46B5-9D24-18A78742552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0114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155E6-F15D-88ED-0DB4-94A8CB5E2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2782CA-E711-E552-D1F9-E502CAD32D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A4E4D9-2E9A-5BAE-5E68-5FF9C4E483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697DF9-93F8-5C85-676D-1B061438FC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555B-D98A-46B5-9D24-18A78742552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4583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EED12-EB00-8F44-A540-137E121A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40DDC7-DB67-B2A8-3093-447BE19DBB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3E33D8-536C-EB4D-E474-E5560DAE8C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D9FF49-88EE-8DE1-A09A-079C21FB52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A4555B-D98A-46B5-9D24-18A78742552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6186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 hasCustomPrompt="1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 baseline="0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/>
              <a:t>Tên tác giả hoặc ngày tháng</a:t>
            </a:r>
            <a:endParaRPr lang="en-US" dirty="0"/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5036" y="6478829"/>
            <a:ext cx="9326880" cy="118101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61D4A3-C96E-946C-BF56-14B0317E483A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29596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 hasCustomPrompt="1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 baseline="0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 baseline="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/>
              <a:t>Tên tác giả hoặc ngày tháng</a:t>
            </a:r>
            <a:endParaRPr lang="en-US" dirty="0"/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9591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 hasCustomPrompt="1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 baseline="0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/>
              <a:t>Tên tác giả hoặc ngày tháng</a:t>
            </a:r>
            <a:endParaRPr lang="en-US" dirty="0"/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542C0C7-F574-E38A-4EB3-08F7967A55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585036" y="6478829"/>
            <a:ext cx="9326880" cy="118101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09D78DE-4DE3-2990-85E4-786FD52314B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A8D337-520D-D86F-59BE-49A69B9FFC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674FC1A-E55F-C03B-647D-62C9D227489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AF77203-FB16-225E-E2AD-E6F5BFB29DF4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32108-B491-0ED9-0209-DCDB4B87944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BE3B44A9-629A-9AFC-6A18-1288714D7213}"/>
              </a:ext>
            </a:extLst>
          </p:cNvPr>
          <p:cNvSpPr txBox="1"/>
          <p:nvPr userDrawn="1"/>
        </p:nvSpPr>
        <p:spPr>
          <a:xfrm>
            <a:off x="10529596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47E8952C-C96D-E1CF-68EF-C321F55822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43BEA4F-EC22-DCD8-2D07-6E96C6A77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 baseline="0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 baseline="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3CFF9A2-77A5-DDEE-8CD5-81FBB071FF69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E020D5-F981-3E97-FE5E-ADF3F5D5D67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6F97B9-1D92-F527-C77C-03A8413842F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461B76C-9BE8-353C-CE4F-D68CC621DEA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BD53315-09D7-5756-C6C6-55FFDDCFE13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DA79C1E-4CE5-9C79-D05A-E661FD9C1020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7A207F-A3E9-4918-9A39-6AFD5C75AE2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741CAD55-C718-D746-6C4B-AC27D7F9E3C4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52AF38-7C96-9660-E7DF-32022B50406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998B8E65-85EA-EDA7-0D26-FAB09CE576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E6AC2544-66BB-6379-48DA-83F16247F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 hasCustomPrompt="1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 baseline="0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 baseline="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99612" y="6488270"/>
            <a:ext cx="9336024" cy="118110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E497A08-099F-1B3E-194B-4232B1D060A8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DEB5E8B-9D80-CFB1-EDED-87ECE2CB2B8A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F6291E-292F-647B-E93F-CCF3BD97EF4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B7700C-E55C-27FB-89BF-E9B044E9EC3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9A2E08-C471-6D85-4D71-8B7583F204FA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8275F7-17A7-2357-D01F-B5A5E3884CF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B7A3534-0713-475D-C6A5-307770CE20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EB70784-4611-F5A4-7D58-DD378AF3F6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87628174-E628-DF34-7A10-83FDFC5D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C110D58-C7C9-AD78-555F-33E02058DAF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81B152-BF7B-A150-5A99-2B451EC38D4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759768-9879-1B7A-B5FA-0DCEFE74D519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3889155-4A4A-8DED-164F-8A56C00B8F9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5096035-4D5E-EF98-4374-6099861A66F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792706-2488-D26C-C54B-F6881C86D05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F36761B-1C8C-2A9C-97D2-FD722A844AE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BA4366D-2C0B-5E27-DC28-A877427191AD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2538E5B-E5A0-69DD-94F0-C506BC4743B8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709C7B13-13FD-9548-48BE-5821DF0AAE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2283063C-B225-E607-FC11-4C67B2273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 </a:t>
            </a:r>
            <a:endParaRPr lang="en-US" dirty="0"/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 hasCustomPrompt="1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E269295-E313-A799-7125-41D39E39DAF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4B895D-114D-C9C2-A547-220F39E95B3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61B30F-7B6D-78FB-BD6E-E34AD607BE56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27F6DF5-10A9-DC42-E1E9-D1FA91D6BBF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1959BFF-8A0A-B338-A74E-37D7F5CED4D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E9E1AD-2113-53D7-8783-10A60D93296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E1424EB-91CE-59BF-400F-9BCF3A182E62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299800F-88A1-1EF2-673A-E19EDD4D12A2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FA7C85-7A63-3F94-A6E0-51FBFB0A621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39E5B1EA-BE1C-22C4-8140-1FF7F085C8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23F5244F-399D-4048-0258-1C4D4345F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 hasCustomPrompt="1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D473B34E-C5A1-D7E2-C692-BFBE5EBD6AC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1CFE12-2689-2DB3-6CB8-E6D662CAE88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6B0CF2-5878-8045-7665-76673B4F71AB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6C447DE-39C2-0CF7-466F-6F936D0397D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BB166D7-5532-DFCC-4719-A557C504B8F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618045-F14E-9F31-0FA0-0532F46BF46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AF28839-2BBD-09C4-84D8-C7BD82D44B5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CD9E80B-3CE1-773E-29BB-8B95E6D45434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ACA3E05-765A-20DC-76C7-1BB18527C02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D2971456-C6D4-0F38-6B9E-1F35DDA6E4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3720CF9-36DD-EAE0-4DFF-B34E1D725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6" name="Title 1"/>
          <p:cNvSpPr>
            <a:spLocks noGrp="1"/>
          </p:cNvSpPr>
          <p:nvPr>
            <p:ph type="ctrTitle" hasCustomPrompt="1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7666FBEF-96D4-A728-F979-1B9E3C584618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E8E8DD-CE54-0055-2BF7-151D57DF8BD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72301E-8D74-6168-3E37-23F22C232E8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F16EF-BF90-0E2D-8C37-9F7F65B32C5A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4C6974A-DD6E-7CB5-8FD4-600450267DC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6196367-A723-A537-EB98-81ACB69748F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66BEA6-14C4-AF23-E4A2-9D451D536F0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8362F22-F1FE-F284-D164-71325E2FE29A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52A85AC-B7B7-482A-12B3-980D59815FD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BF6D7656-F800-D94D-225F-EDD310550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7D4C748E-C498-F3D1-FA1A-8DE0452D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 hasCustomPrompt="1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Chèn ảnh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9D97C13-D91F-4682-B432-81FF1B14B495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84DFD5-27A7-C363-7007-2DC193A3EAF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6999E-E9FF-973E-7101-9B1C41997646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66026A7-B4F0-EAA7-6E24-26FFBCA763F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F0E9D6-6802-7688-2B57-6C08D5DA59C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E658449-E3D8-FD81-A0DE-693514AECD3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3B45509-564D-FF36-7D23-E19C5706B85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034F2291-6314-C1AD-04AC-4C2F36AFBCE5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D81222-A6F3-0F0F-54F8-3440A58FEE7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15F7985F-5BDC-B2DF-EE61-A86912B689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3C7577-EE0C-2234-C1BF-DA9C643EE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 hasCustomPrompt="1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55DA46C-D8B6-7CFC-66B8-7CB0661BDC50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20D40A-2E3B-C7A9-C896-AB297CD1D502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772D73-D33F-3CF1-F2EC-3AB49AB0A3E2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3B7BB71-C74C-F574-53FD-686AF1FFDDB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2F3CACD-6A80-FFA4-A1A8-D43F712955F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FAEB09F-CD5E-7ADC-1B2F-8965E3D7128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6F64E0D-6262-6968-C324-91B0C29DAE2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46ACF565-7282-52D8-2F87-9979EB7D22E4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5EB52C3-46A3-8597-EB48-A059B972B61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F417CD2D-3662-2AA5-03DA-B7DB71FD4D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176764BE-F724-71A0-BE05-2D8CD35F4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5B4C324-3C81-EE05-863B-0BFD10068AD0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C62863-B89C-435F-F151-714E85DDC0D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D858D0-591A-DB7C-B0CF-EC5885EF6AA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1B9E2AA-8C7B-B434-371B-D07F8E42BC7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E048CFE-B19B-7653-369A-1274DDC6A67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B54DA6-059E-42E3-D2C2-7CC236D17F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478C257-C905-714F-8D36-7C4FEA7B1012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171E3B6-9344-8EA5-ECCC-B4E2DB489CB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4D2815-B553-E7E3-A420-642D631F850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43C1B86-79CD-A2B3-901F-0E811E86BC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01990695-EF78-6AB0-E960-0608F2EFC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AF876A1-6B11-6FF8-2D84-015F96056B19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CA6408-9D66-09C4-41AB-00CC1729D300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0018DF-49AD-91F7-0DB0-C9BC1261979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0C13370-E7EC-678E-BD5A-DB77AAE1330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4E15444-C65B-BCB2-0C08-2D44E08572B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2101A3-77ED-E52F-5EB8-690B6987CDF4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7794B63-DFC9-1FBB-688F-B4BDE18353AD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3970B167-68C8-83AC-0439-E32E52CA290E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62CD55A-1C1C-F2FF-326E-E4EDF096096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2106D705-167D-4957-B052-389F58C3C7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4B50CB5C-9421-8092-B746-31E9C2FB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Các thông tin cá nhân có liên quan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baseline="0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Nhấn vào để chỉnh sửa tên</a:t>
            </a:r>
            <a:endParaRPr lang="en-US" dirty="0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Ảnh bìa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Mã QR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78885C0-D685-8BA1-0334-F39B9B68D717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6DF714-887C-B1B4-0544-F3318FB93600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5B2670-DCDB-9912-43A9-DB6F7732594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0719D13-9667-D80B-8E63-2EAE238785E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D5820E4-D785-554F-4A26-439F94DC39C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2173FE2-FAF0-8CC7-CB52-0A02CAB31B9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AC9A41C-6FE6-99FD-63A0-4F13214472F2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E355810-09A4-7711-CAE0-3B52F9B0F7A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CFD61F0-56D5-64BF-42C1-A40A09A1EC8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D9E8BE1-8359-B3EB-76B9-E21898BB11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D8313AA7-7AE7-BBBB-D161-E7992A58C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baseline="0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Tiêu đề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Tiêu đề phụ 1</a:t>
            </a:r>
            <a:endParaRPr lang="en-US" dirty="0"/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 hasCustomPrompt="1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2" name="Text Placeholder 2"/>
          <p:cNvSpPr>
            <a:spLocks noGrp="1"/>
          </p:cNvSpPr>
          <p:nvPr>
            <p:ph type="body" idx="13" hasCustomPrompt="1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Tiêu đề phụ 2</a:t>
            </a:r>
            <a:endParaRPr lang="en-US" dirty="0"/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 hasCustomPrompt="1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A9BD5AE-860A-11DA-EDCF-22268C7C9A86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650682-E7A5-4FC0-F3BE-BB9A232438A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9D63CC-5B2D-403A-2D8D-77E5D2B6108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E5D36C9-D247-9D20-3BF2-F3349DFE29E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3E65D7-4824-ED09-532B-9FC7698CEF8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6AB20A-6E3F-4D3A-66A0-FB26AD4A104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4847801-603B-FBC5-F985-AE9459E3CD4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8F14B01-E23B-BFC7-B317-7E21D60D518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B56432E-6829-4DE3-60A2-6B8BBDC6B4B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187C7D7A-D6B4-F348-B4E4-CA33AB53AD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19648BD2-EBDF-9F5F-296A-DFCA3F0BF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  <a:endParaRPr lang="en-US" dirty="0"/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Chèn ảnh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Chèn ảnh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Chèn ảnh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Chèn ảnh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1D2F5E-B4B4-4F13-5B40-6B34D4077BF7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28C786-22D7-B802-E1CD-F76CACF14CC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47DAB2-9527-687A-8677-8F0D90CD784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0F80466-9EFF-A73A-B6DE-D269BCE066A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3337E1-C74F-3AB9-3062-C33D866163B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812D348-DF45-A829-E72D-196DEC172D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A8F8196-C024-0B7C-46F7-739B24E5DB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A860906-4DB7-35A0-12A0-880FE34D0611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D6CDF9-3E97-FB61-7CE7-3D09FA86D7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6218C02C-39DB-9A5F-95CB-0C3CAB0832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14506B3F-1DF2-A2B1-B917-52BD9BA9F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 hasCustomPrompt="1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 hasCustomPrompt="1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 hasCustomPrompt="1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27B2114-05AD-5B46-042A-74C2E1E114D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12D61D-E589-A35B-EEF9-9C42ABC105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A589A6-0D91-BA6C-6308-33240D74B749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A0B255F-3EA0-6316-1814-EA69B3A1C94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99C3888-223C-A47F-802D-E01AE026158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AFDAA6-E7FA-2A32-DFA6-F90442ED860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4DC1B11-CA57-3325-DD06-C67EE58D7FC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8C3C485-7E6C-D1B8-B245-95DB0F954A97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B1F8E9-DA5B-DA41-D6FB-62DFDED23A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1B773FC-C6DB-8895-F8FB-AC357B5F1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ED3E9AD-AE54-8D77-117E-98F95DCE6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Readex Pro" pitchFamily="2" charset="-78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 hasCustomPrompt="1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 hasCustomPrompt="1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 hasCustomPrompt="1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 hasCustomPrompt="1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A85175A-A5CA-FDCD-9D1E-D1E3A5C08616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72AE3C-B845-C37F-3FA3-517EBBCCD80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3C2B34-BC37-24CD-CCCC-86C84255F60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3A51EC-EB1C-A2F5-191D-39EC3871D7F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D16B55C-8A59-6B1B-682C-62AA2B73A47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FC2AAA9-0C7E-3269-988C-8B585C6196AD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92758D9-75FB-A297-C9B0-0046880A09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A0FD0A9-AA5C-7D0D-4E1D-5CCB189D948D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2D20B6-C339-D112-86D5-A51948B07F5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6D1D37C2-EC33-4641-5CD8-DBFCCC5A5A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F9D2D5D-F42C-AD89-38B2-8E5862B86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 hasCustomPrompt="1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17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baseline="0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Tiêu đề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043EC71-5B9E-C0BC-1876-C8F7F39BC547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4374B3-12AF-4FD8-DEB7-27010168D05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BA7498-F3BC-86B3-1A69-799334B6D0C9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C85D92-154D-811A-7CED-746E05BC993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1FF18A3-B64B-560A-0E4C-FAE23671DD1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0087580-3DBD-8257-F1D1-7914462F84CA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3924CB2-D38F-D098-BA0D-F7AF3FD0DAE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1944464-246D-1746-8383-CA6C986DD6CD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6B468E-C03F-EA5D-3562-3CF0D836AD6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EDB08078-B43B-9900-A614-EDD1B700D36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53B98CF-4D09-7334-F10E-AC2949398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 hasCustomPrompt="1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0E9D4A31-78FB-C50E-E557-1D6A2AB1B39D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E77047-2D78-10EA-8B2B-464D363FDA7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B0BADC-EE2D-7AA3-FE84-68EB6BD21EC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3A035-1495-F2B0-9581-76B6F74E68E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EFB4826-5D0F-51B0-8FB3-AF794F93FD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DA189B-1ADB-AEB4-5954-98C27419F04D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D18312-4501-E052-78A4-D56485FF5E5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BFB8709-60EF-0C2D-7AE6-97383C28A99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A513177-236E-9D57-556A-25BA2A08A56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AAB60C45-18AD-EA2E-F8C7-09BC10A7EB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06116A22-46CD-EA17-0317-B3A75C35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baseline="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ACD306E5-CFB4-AF8E-362E-7264A2EE8FC3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E40D7E-4410-6230-80DF-9F48DDD5A2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71A584-94A8-DB0F-72C3-58733380A872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63D15-A7C4-C136-3C34-D85D43DF91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CA5ACA2-579F-CD83-86DA-E253A52172C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C5BCA61-C1DF-F935-9A58-6E188F2CB05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8E80D1-1F87-F099-C499-A6D08F0D1B7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7DD4F89-FFA6-2586-6CFF-BAD9CA9BBED0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ADDEC2-86AA-36BA-1460-FC4BE106E1D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0BAA20-270C-6BB8-126D-274EA4BC32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E3DB167-B4F8-7DE2-3FE9-16BA7DFC4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0AAABEF-0466-E8D9-7159-4498725EB239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5B4BC4-A4A2-B7AE-36B8-5F8601CBD240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3324B4-3F68-C3A0-CCD5-76223DA4437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CAF8661-5038-9FE1-BBA8-946867DADAB0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383C5A-EDBD-9F53-185B-2E7B394F345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FA2C68B-0393-7A63-49AA-3FFE7FE14C7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0CA16E1-AF2D-D0AA-1F01-070BA884ACD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7BCC7B34-3035-0952-6B45-935B76D988E3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A7B063C-9DEE-224B-8FD3-B578122F701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AA004C0A-B376-851D-1C1F-61573C0B97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D28DB7B-FFF4-7151-C18D-3C7D5D9D8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CA7CBBB-5BEC-4156-BB0B-762A1656305F}"/>
              </a:ext>
            </a:extLst>
          </p:cNvPr>
          <p:cNvSpPr/>
          <p:nvPr userDrawn="1"/>
        </p:nvSpPr>
        <p:spPr>
          <a:xfrm>
            <a:off x="135235" y="6474525"/>
            <a:ext cx="544432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4E0175B-DA75-48B5-9D9D-69732B703EF5}"/>
              </a:ext>
            </a:extLst>
          </p:cNvPr>
          <p:cNvGrpSpPr/>
          <p:nvPr userDrawn="1"/>
        </p:nvGrpSpPr>
        <p:grpSpPr>
          <a:xfrm>
            <a:off x="205437" y="6454898"/>
            <a:ext cx="544432" cy="365125"/>
            <a:chOff x="119712" y="6454898"/>
            <a:chExt cx="544432" cy="36512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FADB430-7D50-4978-89C8-6C6EBBB3035E}"/>
                </a:ext>
              </a:extLst>
            </p:cNvPr>
            <p:cNvSpPr/>
            <p:nvPr userDrawn="1"/>
          </p:nvSpPr>
          <p:spPr>
            <a:xfrm>
              <a:off x="119712" y="6488235"/>
              <a:ext cx="544432" cy="298450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Slide Number Placeholder 5">
              <a:extLst>
                <a:ext uri="{FF2B5EF4-FFF2-40B4-BE49-F238E27FC236}">
                  <a16:creationId xmlns:a16="http://schemas.microsoft.com/office/drawing/2014/main" id="{7688F936-0D30-441F-BBA9-66AE32197B6A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59150" y="6454898"/>
              <a:ext cx="465556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914400" rtl="0" eaLnBrk="1" latinLnBrk="0" hangingPunct="1">
                <a:defRPr sz="1200" kern="1200">
                  <a:solidFill>
                    <a:schemeClr val="bg1"/>
                  </a:solidFill>
                  <a:latin typeface="Barlow" panose="00000500000000000000" pitchFamily="2" charset="0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3E7A8FBE-F383-41C2-9A02-D1D86CE96726}" type="slidenum">
                <a:rPr lang="en-US" smtClean="0">
                  <a:latin typeface="K2D" panose="00000500000000000000" pitchFamily="2" charset="-34"/>
                </a:rPr>
                <a:pPr/>
                <a:t>‹#›</a:t>
              </a:fld>
              <a:endParaRPr lang="en-US">
                <a:latin typeface="K2D" panose="00000500000000000000" pitchFamily="2" charset="-34"/>
              </a:endParaRPr>
            </a:p>
          </p:txBody>
        </p:sp>
      </p:grp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4F36C960-0DDB-40F7-96C6-0E5E092E47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4400" y="6548263"/>
            <a:ext cx="2743200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EB56B231-F846-4811-B632-4AB4BAA98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250632-77FB-405A-BBE8-9981579CE7EF}"/>
              </a:ext>
            </a:extLst>
          </p:cNvPr>
          <p:cNvSpPr txBox="1"/>
          <p:nvPr/>
        </p:nvSpPr>
        <p:spPr>
          <a:xfrm>
            <a:off x="817685" y="6410864"/>
            <a:ext cx="2760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baseline="0">
                <a:solidFill>
                  <a:schemeClr val="bg1"/>
                </a:solidFill>
                <a:latin typeface="K2D" panose="00000500000000000000" pitchFamily="2" charset="-34"/>
              </a:rPr>
              <a:t>ĐẠI HỌC CẦN THƠ</a:t>
            </a:r>
            <a:endParaRPr lang="en-US" sz="1400" b="1">
              <a:solidFill>
                <a:schemeClr val="bg1"/>
              </a:solidFill>
              <a:latin typeface="K2D" panose="00000500000000000000" pitchFamily="2" charset="-34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F06559-0D08-475B-BB2B-C2AD79E1EA9A}"/>
              </a:ext>
            </a:extLst>
          </p:cNvPr>
          <p:cNvSpPr txBox="1"/>
          <p:nvPr userDrawn="1"/>
        </p:nvSpPr>
        <p:spPr>
          <a:xfrm>
            <a:off x="10536385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A2DBFB6-FB51-4349-AD79-DB5E3B289A6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02785" y="6488354"/>
            <a:ext cx="9336024" cy="11821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741078-A544-42D3-8CE7-5F2F115BABE0}"/>
              </a:ext>
            </a:extLst>
          </p:cNvPr>
          <p:cNvSpPr txBox="1"/>
          <p:nvPr userDrawn="1"/>
        </p:nvSpPr>
        <p:spPr>
          <a:xfrm>
            <a:off x="817685" y="6599210"/>
            <a:ext cx="1922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vi-V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rPr>
              <a:t>Cộng đồng – Toàn diện – Ưu việt</a:t>
            </a: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eadex Pro" pitchFamily="2" charset="-78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669E2A5B-C398-3A54-39BB-1A10AD77A4C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99612" y="6488270"/>
            <a:ext cx="9336024" cy="118110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540C400F-3AEE-5C28-4A10-78CBA14078B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A79BBA-69C1-570D-F28E-9BB9C6ACBEC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C30C32-8749-8F9D-AFB9-200DC55D9965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636664E3-F587-5BFA-8277-C0DDF1B0FB4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AF36890-856E-2F7B-8E55-A33B790D7C1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B2CBB7-80CC-0503-06CA-B293272E754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E49DC9B-DB28-1334-ACD6-A7837974CC5D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2896B089-ECA6-A22E-B1B3-DEA30DA3A29D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3CA8C4BA-A884-9E59-FFE3-0B919D00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79B8DE1D-7394-99A3-7495-C14CDDA1E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Thêm ảnh</a:t>
            </a:r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6F8249F-933F-27B4-037F-1BE57AC729C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2D8527-F93B-EB58-7740-2C078C40D09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2B52FF-C488-9746-1718-20EBF7C6F69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91F8AA-07ED-7376-C0C8-2331E007AE3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998A477-5FFB-8A7A-8F05-0A80F04AEFB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1725ED5-67ED-5B9A-3DCA-1DE0F4C5834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E9266B7-33A3-424D-B662-BE0A9937A84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686A9F9-4156-B900-5857-6016C3E85FAB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0D5907-9052-863A-8BCC-EF17800E64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F2144C9-292D-3866-E801-4F565FEE1A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9BEA6383-5223-C237-6EF3-C8B51BE5E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Thêm ảnh</a:t>
            </a:r>
          </a:p>
        </p:txBody>
      </p:sp>
      <p:sp>
        <p:nvSpPr>
          <p:cNvPr id="24" name="Title 1"/>
          <p:cNvSpPr>
            <a:spLocks noGrp="1"/>
          </p:cNvSpPr>
          <p:nvPr>
            <p:ph type="ctrTitle" hasCustomPrompt="1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baseline="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2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005A496-97A9-F2E6-5A93-82ED29991805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E9CB3-D945-22DB-F3B1-01E643966ACF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D6A3BA-05EA-D4A6-D520-6A0BBE9ACFC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81D0D4-C58F-2943-9F96-7367FEA221D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5313E83-E883-5D3C-7410-B094E1918C1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D148F3C-F670-4585-6238-F7F73412182A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D5B6593-3DAF-E642-22A3-B33B2E999E0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612E298-D721-FB54-E8B1-308FB365446A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DE4871-7678-DA84-8689-2F27B59205B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613E948E-49EF-8C4E-0898-E98F72B6A1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35A65652-1FC1-56DE-41BF-70B7E3176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 hasCustomPrompt="1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baseline="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2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 hasCustomPrompt="1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Thêm ảnh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F5E8B0A-35A9-1D4F-DB19-BE07791E78F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DE1F6B-3A1F-F4AA-B616-B69C903A909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A17A55-6967-1E8F-7303-5303CBD602A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4F218F-2B5C-5125-3565-DD9470D6775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F21373-8291-8606-349F-C9D37F7F42EA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890A1A8-07D6-CC23-110F-A4349C95D83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4B2C4FA-6364-1259-35B8-B7538FBAB89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298D622-19A9-9C4F-D8B3-A0B8BACFDA92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D19E43-BFD6-BAEA-5172-CB6E311691D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086DB862-383E-AC4E-53C8-05578489E4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61406AB-9157-BB66-317E-91FF66767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E6F05EB3-1A18-FFAB-87F4-C3B6F94C3D6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baseline="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CEFF8FA1-B5A4-2A75-DF61-6155775A60B6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8A97E-3A14-7BF0-D186-C53734F25980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894450-A56F-CB14-56CE-6BAB4A469F5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EDC2765-72E6-0900-A64B-07D9394DE1E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972BBAE-9F84-4D92-5FC5-6BAC2EBBA3A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DD8EF8C-2CE8-32A2-4893-8A1F462F597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C64073C-92F4-B219-BB9F-D220B1F1317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CDC2B2F-DD31-C057-140F-8607950C1220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D099AF-ADE0-F209-43E6-00047303FC9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9D6B138-607A-1698-333D-31B07D850C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08-Jan-26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EC58AAA-3CCF-ABE2-A4E2-6851325D5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13" name="Picture Placeholder 1">
            <a:extLst>
              <a:ext uri="{FF2B5EF4-FFF2-40B4-BE49-F238E27FC236}">
                <a16:creationId xmlns:a16="http://schemas.microsoft.com/office/drawing/2014/main" id="{2E6D52DE-4D97-3181-9440-19E31A6CE81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Thêm ảnh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88786B7F-DEAA-9BB7-8BD3-B3780EB61B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08-Jan-26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A11D788B-033B-559F-A87C-34370F1690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002" y="2456719"/>
            <a:ext cx="11995265" cy="1855310"/>
          </a:xfrm>
        </p:spPr>
        <p:txBody>
          <a:bodyPr>
            <a:normAutofit/>
          </a:bodyPr>
          <a:lstStyle/>
          <a:p>
            <a:r>
              <a:rPr lang="en-US" dirty="0"/>
              <a:t>WEB NGỮ NGHĨA</a:t>
            </a:r>
            <a:br>
              <a:rPr lang="en-US" dirty="0"/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2098EE8-EB44-1471-DBB3-E5EECB81B3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362" y="3773978"/>
            <a:ext cx="11205713" cy="874106"/>
          </a:xfrm>
        </p:spPr>
        <p:txBody>
          <a:bodyPr>
            <a:noAutofit/>
          </a:bodyPr>
          <a:lstStyle/>
          <a:p>
            <a:r>
              <a:rPr lang="en-US" sz="2800" dirty="0" err="1"/>
              <a:t>DBpedia</a:t>
            </a:r>
            <a:r>
              <a:rPr lang="en-US" sz="2800" dirty="0"/>
              <a:t>-based Ontology for Movies and Countries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F16181AC-E50A-B876-5295-E5B3C637B8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5" y="4924425"/>
            <a:ext cx="3895976" cy="977611"/>
          </a:xfrm>
        </p:spPr>
        <p:txBody>
          <a:bodyPr/>
          <a:lstStyle/>
          <a:p>
            <a:r>
              <a:rPr lang="en-US" dirty="0" err="1">
                <a:latin typeface="K2D" panose="020B0604020202020204" charset="-34"/>
                <a:cs typeface="K2D" panose="020B0604020202020204" charset="-34"/>
              </a:rPr>
              <a:t>Giáo</a:t>
            </a:r>
            <a:r>
              <a:rPr lang="en-US" dirty="0">
                <a:latin typeface="K2D" panose="020B0604020202020204" charset="-34"/>
                <a:cs typeface="K2D" panose="020B0604020202020204" charset="-34"/>
              </a:rPr>
              <a:t> Viên </a:t>
            </a:r>
            <a:r>
              <a:rPr lang="en-US" dirty="0" err="1">
                <a:latin typeface="K2D" panose="020B0604020202020204" charset="-34"/>
                <a:cs typeface="K2D" panose="020B0604020202020204" charset="-34"/>
              </a:rPr>
              <a:t>Hướng</a:t>
            </a:r>
            <a:r>
              <a:rPr lang="en-US" dirty="0"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en-US" dirty="0" err="1">
                <a:latin typeface="K2D" panose="020B0604020202020204" charset="-34"/>
                <a:cs typeface="K2D" panose="020B0604020202020204" charset="-34"/>
              </a:rPr>
              <a:t>dẫn</a:t>
            </a:r>
            <a:endParaRPr lang="en-US" dirty="0">
              <a:latin typeface="K2D" panose="020B0604020202020204" charset="-34"/>
              <a:cs typeface="K2D" panose="020B0604020202020204" charset="-34"/>
            </a:endParaRPr>
          </a:p>
          <a:p>
            <a:r>
              <a:rPr lang="en-US" dirty="0">
                <a:latin typeface="K2D" panose="020B0604020202020204" charset="-34"/>
                <a:cs typeface="K2D" panose="020B0604020202020204" charset="-34"/>
              </a:rPr>
              <a:t>TS. Trần Công </a:t>
            </a:r>
            <a:r>
              <a:rPr lang="en-US" dirty="0" err="1">
                <a:latin typeface="K2D" panose="020B0604020202020204" charset="-34"/>
                <a:cs typeface="K2D" panose="020B0604020202020204" charset="-34"/>
              </a:rPr>
              <a:t>Án</a:t>
            </a:r>
            <a:endParaRPr lang="en-US" dirty="0">
              <a:latin typeface="K2D" panose="020B0604020202020204" charset="-34"/>
              <a:cs typeface="K2D" panose="020B0604020202020204" charset="-34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70119" y="1718384"/>
            <a:ext cx="828917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vi-VN" sz="2400" b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ĐẠI HỌC CẦN THƠ</a:t>
            </a:r>
            <a:br>
              <a:rPr lang="vi-VN" sz="2400" b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vi-VN" sz="2400" b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TRƯỜNG CÔNG NGHỆ THÔNG TIN &amp; TRUYỀN THÔNG</a:t>
            </a:r>
            <a:br>
              <a:rPr lang="vi-VN" sz="2400" b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vi-VN" sz="2400" b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----------------- </a:t>
            </a:r>
            <a:r>
              <a:rPr lang="en-US" sz="2400" b="1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🕮 ------------------</a:t>
            </a:r>
            <a:endParaRPr lang="en-US" sz="2400" b="1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628710" y="5000701"/>
            <a:ext cx="38012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Nhóm</a:t>
            </a:r>
            <a:r>
              <a:rPr lang="en-US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học</a:t>
            </a:r>
            <a:r>
              <a:rPr lang="en-US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viên</a:t>
            </a:r>
            <a:r>
              <a:rPr lang="en-US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thực</a:t>
            </a:r>
            <a:r>
              <a:rPr lang="en-US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hiện</a:t>
            </a:r>
            <a:r>
              <a:rPr lang="en-US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: </a:t>
            </a:r>
          </a:p>
          <a:p>
            <a:r>
              <a:rPr lang="en-US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1.</a:t>
            </a:r>
            <a:r>
              <a:rPr lang="vi-VN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en-US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vi-VN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M2524011	</a:t>
            </a:r>
            <a:r>
              <a:rPr lang="en-US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Võ Thanh Luân</a:t>
            </a:r>
          </a:p>
          <a:p>
            <a:r>
              <a:rPr lang="en-US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2. M2524023	Ngô Quốc Thanh</a:t>
            </a:r>
          </a:p>
          <a:p>
            <a:r>
              <a:rPr lang="en-US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3.</a:t>
            </a:r>
            <a:r>
              <a:rPr lang="vi-VN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 M252402</a:t>
            </a:r>
            <a:r>
              <a:rPr lang="en-US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5</a:t>
            </a:r>
            <a:r>
              <a:rPr lang="vi-VN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	</a:t>
            </a:r>
            <a:r>
              <a:rPr lang="en-US" dirty="0">
                <a:solidFill>
                  <a:schemeClr val="bg1"/>
                </a:solidFill>
                <a:latin typeface="K2D" panose="020B0604020202020204" charset="-34"/>
                <a:cs typeface="K2D" panose="020B0604020202020204" charset="-34"/>
              </a:rPr>
              <a:t>Trần Minh Trí</a:t>
            </a:r>
          </a:p>
          <a:p>
            <a:endParaRPr lang="en-US" dirty="0">
              <a:latin typeface="K2D" panose="020B0604020202020204" charset="-34"/>
              <a:cs typeface="K2D" panose="020B060402020202020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65128320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932466"/>
            <a:ext cx="12191999" cy="1855310"/>
          </a:xfrm>
        </p:spPr>
        <p:txBody>
          <a:bodyPr>
            <a:normAutofit/>
          </a:bodyPr>
          <a:lstStyle/>
          <a:p>
            <a:r>
              <a:rPr lang="en-US" sz="4000" dirty="0"/>
              <a:t>WEB NGỮ NGHĨA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16181AC-E50A-B876-5295-E5B3C637B8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5" y="4924425"/>
            <a:ext cx="3895976" cy="977611"/>
          </a:xfrm>
        </p:spPr>
        <p:txBody>
          <a:bodyPr/>
          <a:lstStyle/>
          <a:p>
            <a:r>
              <a:rPr lang="en-US" dirty="0" err="1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Giáo</a:t>
            </a:r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 Viên </a:t>
            </a:r>
            <a:r>
              <a:rPr lang="en-US" dirty="0" err="1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Hướng</a:t>
            </a:r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en-US" dirty="0" err="1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dẫn</a:t>
            </a:r>
            <a:endParaRPr lang="en-US" dirty="0">
              <a:solidFill>
                <a:srgbClr val="1F5CAA"/>
              </a:solidFill>
              <a:latin typeface="K2D" panose="020B0604020202020204" charset="-34"/>
              <a:cs typeface="K2D" panose="020B0604020202020204" charset="-34"/>
            </a:endParaRPr>
          </a:p>
          <a:p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TS. Trần Công </a:t>
            </a:r>
            <a:r>
              <a:rPr lang="en-US" dirty="0" err="1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Án</a:t>
            </a:r>
            <a:endParaRPr lang="en-US" dirty="0">
              <a:solidFill>
                <a:srgbClr val="1F5CAA"/>
              </a:solidFill>
              <a:latin typeface="K2D" panose="020B0604020202020204" charset="-34"/>
              <a:cs typeface="K2D" panose="020B0604020202020204" charset="-34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2098EE8-EB44-1471-DBB3-E5EECB81B3C9}"/>
              </a:ext>
            </a:extLst>
          </p:cNvPr>
          <p:cNvSpPr txBox="1">
            <a:spLocks/>
          </p:cNvSpPr>
          <p:nvPr/>
        </p:nvSpPr>
        <p:spPr>
          <a:xfrm>
            <a:off x="426640" y="3250276"/>
            <a:ext cx="11205713" cy="87410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0" i="0" kern="1200" baseline="0">
                <a:solidFill>
                  <a:srgbClr val="0070C0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dirty="0" err="1">
                <a:solidFill>
                  <a:srgbClr val="FF0000"/>
                </a:solidFill>
                <a:latin typeface="K2D" panose="020B0604020202020204" charset="-34"/>
                <a:cs typeface="K2D" panose="020B0604020202020204" charset="-34"/>
              </a:rPr>
              <a:t>DBpedia</a:t>
            </a:r>
            <a:r>
              <a:rPr lang="en-US" sz="3000" dirty="0">
                <a:solidFill>
                  <a:srgbClr val="FF0000"/>
                </a:solidFill>
                <a:latin typeface="K2D" panose="020B0604020202020204" charset="-34"/>
                <a:cs typeface="K2D" panose="020B0604020202020204" charset="-34"/>
              </a:rPr>
              <a:t>-based Ontology for Movies and Countries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8710" y="5017327"/>
            <a:ext cx="38012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Nhóm</a:t>
            </a:r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en-US" dirty="0" err="1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học</a:t>
            </a:r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en-US" dirty="0" err="1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viên</a:t>
            </a:r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en-US" dirty="0" err="1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thực</a:t>
            </a:r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en-US" dirty="0" err="1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hiện</a:t>
            </a:r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: </a:t>
            </a:r>
          </a:p>
          <a:p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1.</a:t>
            </a:r>
            <a:r>
              <a:rPr lang="vi-VN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 </a:t>
            </a:r>
            <a:r>
              <a:rPr lang="vi-VN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M2524011	</a:t>
            </a:r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Võ Thanh Luân</a:t>
            </a:r>
          </a:p>
          <a:p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2. M2524023	Ngô Quốc Thanh</a:t>
            </a:r>
          </a:p>
          <a:p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3.</a:t>
            </a:r>
            <a:r>
              <a:rPr lang="vi-VN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 M252402</a:t>
            </a:r>
            <a:r>
              <a:rPr lang="en-US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5</a:t>
            </a:r>
            <a:r>
              <a:rPr lang="vi-VN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	</a:t>
            </a:r>
            <a:r>
              <a:rPr lang="en-US" dirty="0">
                <a:solidFill>
                  <a:srgbClr val="1F5CAA"/>
                </a:solidFill>
                <a:latin typeface="K2D" panose="020B0604020202020204" charset="-34"/>
                <a:cs typeface="K2D" panose="020B0604020202020204" charset="-34"/>
              </a:rPr>
              <a:t>Trần Minh Trí</a:t>
            </a:r>
          </a:p>
          <a:p>
            <a:endParaRPr lang="en-US" dirty="0">
              <a:solidFill>
                <a:srgbClr val="1F5CAA"/>
              </a:solidFill>
              <a:latin typeface="K2D" panose="020B0604020202020204" charset="-34"/>
              <a:cs typeface="K2D" panose="020B060402020202020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731403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NỘI DUNG BÁO CÁO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698" y="1418301"/>
            <a:ext cx="10515600" cy="3261280"/>
          </a:xfrm>
        </p:spPr>
        <p:txBody>
          <a:bodyPr>
            <a:normAutofit lnSpcReduction="10000"/>
          </a:bodyPr>
          <a:lstStyle/>
          <a:p>
            <a:pPr marL="742950" indent="-742950" algn="l">
              <a:lnSpc>
                <a:spcPct val="150000"/>
              </a:lnSpc>
              <a:spcBef>
                <a:spcPct val="0"/>
              </a:spcBef>
              <a:buAutoNum type="arabicPeriod"/>
            </a:pPr>
            <a:r>
              <a:rPr lang="en-US" sz="3600" b="1" dirty="0" err="1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rPr>
              <a:t>Giới</a:t>
            </a:r>
            <a:r>
              <a:rPr lang="en-US" sz="3600" b="1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rPr>
              <a:t> </a:t>
            </a:r>
            <a:r>
              <a:rPr lang="en-US" sz="3600" b="1" dirty="0" err="1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rPr>
              <a:t>thiệu</a:t>
            </a:r>
            <a:r>
              <a:rPr lang="en-US" sz="3600" b="1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rPr>
              <a:t> </a:t>
            </a:r>
            <a:r>
              <a:rPr lang="en-US" sz="3600" b="1" dirty="0" err="1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rPr>
              <a:t>DBPedia</a:t>
            </a:r>
            <a:endParaRPr lang="en-US" sz="3600" b="1" dirty="0">
              <a:solidFill>
                <a:srgbClr val="0070C0"/>
              </a:solidFill>
              <a:latin typeface="K2D" panose="00000500000000000000" pitchFamily="2" charset="-34"/>
              <a:ea typeface="+mj-ea"/>
              <a:cs typeface="+mj-cs"/>
            </a:endParaRPr>
          </a:p>
          <a:p>
            <a:pPr marL="742950" indent="-742950" algn="l">
              <a:lnSpc>
                <a:spcPct val="150000"/>
              </a:lnSpc>
              <a:spcBef>
                <a:spcPct val="0"/>
              </a:spcBef>
              <a:buAutoNum type="arabicPeriod"/>
            </a:pPr>
            <a:r>
              <a:rPr lang="en-US" sz="3600" b="1" dirty="0" err="1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rPr>
              <a:t>TBox</a:t>
            </a:r>
            <a:r>
              <a:rPr lang="en-US" sz="3600" b="1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rPr>
              <a:t> Protege</a:t>
            </a:r>
          </a:p>
          <a:p>
            <a:pPr marL="742950" indent="-742950" algn="l">
              <a:lnSpc>
                <a:spcPct val="150000"/>
              </a:lnSpc>
              <a:spcBef>
                <a:spcPct val="0"/>
              </a:spcBef>
              <a:buAutoNum type="arabicPeriod"/>
            </a:pPr>
            <a:r>
              <a:rPr lang="en-US" sz="3600" b="1" dirty="0" err="1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rPr>
              <a:t>ABox</a:t>
            </a:r>
            <a:r>
              <a:rPr lang="en-US" sz="3600" b="1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rPr>
              <a:t> Protege</a:t>
            </a:r>
          </a:p>
          <a:p>
            <a:pPr marL="742950" indent="-742950" algn="l">
              <a:lnSpc>
                <a:spcPct val="150000"/>
              </a:lnSpc>
              <a:spcBef>
                <a:spcPct val="0"/>
              </a:spcBef>
              <a:buAutoNum type="arabicPeriod"/>
            </a:pPr>
            <a:r>
              <a:rPr lang="en-US" sz="3600" b="1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rPr>
              <a:t>User Interface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DBPedia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AA354F-FEFD-6B0B-87BA-F9476BA46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068"/>
            <a:ext cx="10515600" cy="4470400"/>
          </a:xfrm>
        </p:spPr>
        <p:txBody>
          <a:bodyPr>
            <a:normAutofit lnSpcReduction="10000"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1100"/>
            </a:pPr>
            <a:endParaRPr lang="vi-VN" dirty="0">
              <a:solidFill>
                <a:srgbClr val="30303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lvl="0" indent="-381000">
              <a:spcBef>
                <a:spcPts val="0"/>
              </a:spcBef>
              <a:buClr>
                <a:srgbClr val="303030"/>
              </a:buClr>
              <a:buFont typeface="Arial"/>
              <a:buChar char="●"/>
            </a:pPr>
            <a:r>
              <a:rPr lang="vi-VN" sz="3600" dirty="0" err="1">
                <a:solidFill>
                  <a:srgbClr val="303030"/>
                </a:solidFill>
                <a:latin typeface="Arial"/>
                <a:ea typeface="Arial"/>
                <a:cs typeface="Arial"/>
                <a:sym typeface="Arial"/>
              </a:rPr>
              <a:t>DBpedia</a:t>
            </a:r>
            <a:r>
              <a:rPr lang="vi-VN" sz="3600" dirty="0">
                <a:solidFill>
                  <a:srgbClr val="303030"/>
                </a:solidFill>
                <a:latin typeface="Arial"/>
                <a:ea typeface="Arial"/>
                <a:cs typeface="Arial"/>
                <a:sym typeface="Arial"/>
              </a:rPr>
              <a:t> là dự án trích xuất và chuẩn hóa tri thức từ </a:t>
            </a:r>
            <a:r>
              <a:rPr lang="vi-VN" sz="3600" dirty="0" err="1">
                <a:solidFill>
                  <a:srgbClr val="303030"/>
                </a:solidFill>
                <a:latin typeface="Arial"/>
                <a:ea typeface="Arial"/>
                <a:cs typeface="Arial"/>
                <a:sym typeface="Arial"/>
              </a:rPr>
              <a:t>Wikipedia</a:t>
            </a:r>
            <a:r>
              <a:rPr lang="vi-VN" sz="3600" dirty="0">
                <a:solidFill>
                  <a:srgbClr val="303030"/>
                </a:solidFill>
                <a:latin typeface="Arial"/>
                <a:ea typeface="Arial"/>
                <a:cs typeface="Arial"/>
                <a:sym typeface="Arial"/>
              </a:rPr>
              <a:t> dưới dạng dữ liệu có cấu trúc</a:t>
            </a:r>
          </a:p>
          <a:p>
            <a:pPr marL="76200" lvl="0">
              <a:spcBef>
                <a:spcPts val="0"/>
              </a:spcBef>
              <a:buClr>
                <a:srgbClr val="303030"/>
              </a:buClr>
            </a:pPr>
            <a:endParaRPr lang="vi-VN" sz="3600" dirty="0">
              <a:solidFill>
                <a:srgbClr val="30303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lvl="0" indent="-381000">
              <a:spcBef>
                <a:spcPts val="0"/>
              </a:spcBef>
              <a:buClr>
                <a:srgbClr val="303030"/>
              </a:buClr>
              <a:buFont typeface="Arial"/>
              <a:buChar char="●"/>
            </a:pPr>
            <a:r>
              <a:rPr lang="vi-VN" sz="3600" dirty="0">
                <a:solidFill>
                  <a:srgbClr val="303030"/>
                </a:solidFill>
                <a:latin typeface="Arial"/>
                <a:ea typeface="Arial"/>
                <a:cs typeface="Arial"/>
                <a:sym typeface="Arial"/>
              </a:rPr>
              <a:t>Cung cấp đồ thị tri thức mở, hỗ trợ liên kết và chia sẻ dữ liệu giữa các hệ thống</a:t>
            </a:r>
          </a:p>
          <a:p>
            <a:pPr lvl="0" indent="-381000">
              <a:spcBef>
                <a:spcPts val="0"/>
              </a:spcBef>
              <a:buClr>
                <a:srgbClr val="303030"/>
              </a:buClr>
              <a:buFont typeface="Arial"/>
              <a:buChar char="●"/>
            </a:pPr>
            <a:endParaRPr lang="vi-VN" sz="3600" dirty="0">
              <a:solidFill>
                <a:srgbClr val="30303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lvl="0" indent="-381000">
              <a:spcBef>
                <a:spcPts val="0"/>
              </a:spcBef>
              <a:buClr>
                <a:srgbClr val="303030"/>
              </a:buClr>
              <a:buFont typeface="Arial"/>
              <a:buChar char="●"/>
            </a:pPr>
            <a:r>
              <a:rPr lang="vi-VN" sz="3600" dirty="0">
                <a:solidFill>
                  <a:srgbClr val="303030"/>
                </a:solidFill>
                <a:latin typeface="Arial"/>
                <a:ea typeface="Arial"/>
                <a:cs typeface="Arial"/>
                <a:sym typeface="Arial"/>
              </a:rPr>
              <a:t>Cho phép truy vấn và khai thác thông tin ngữ nghĩa thông qua SPARQL và </a:t>
            </a:r>
            <a:r>
              <a:rPr lang="vi-VN" sz="3600" dirty="0" err="1">
                <a:solidFill>
                  <a:srgbClr val="303030"/>
                </a:solidFill>
                <a:latin typeface="Arial"/>
                <a:ea typeface="Arial"/>
                <a:cs typeface="Arial"/>
                <a:sym typeface="Arial"/>
              </a:rPr>
              <a:t>Linked</a:t>
            </a:r>
            <a:r>
              <a:rPr lang="vi-VN" sz="3600" dirty="0">
                <a:solidFill>
                  <a:srgbClr val="30303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vi-VN" sz="3600" dirty="0" err="1">
                <a:solidFill>
                  <a:srgbClr val="303030"/>
                </a:solidFill>
                <a:latin typeface="Arial"/>
                <a:ea typeface="Arial"/>
                <a:cs typeface="Arial"/>
                <a:sym typeface="Arial"/>
              </a:rPr>
              <a:t>Data</a:t>
            </a:r>
            <a:endParaRPr lang="vi-VN" sz="3600" dirty="0">
              <a:solidFill>
                <a:srgbClr val="1A1A1A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0"/>
              </a:spcBef>
              <a:buClr>
                <a:schemeClr val="dk1"/>
              </a:buClr>
              <a:buSzPts val="2400"/>
            </a:pPr>
            <a:endParaRPr lang="vi-VN"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73557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61DFF-087C-DA23-E1D5-91BEB8FBA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16304-B201-0765-3E49-C7AC28D5D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DBPedia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A173E2-B015-88B1-EE03-92453B5480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06311"/>
            <a:ext cx="11037711" cy="5125159"/>
          </a:xfrm>
        </p:spPr>
        <p:txBody>
          <a:bodyPr>
            <a:noAutofit/>
          </a:bodyPr>
          <a:lstStyle/>
          <a:p>
            <a:pPr marL="19050">
              <a:spcBef>
                <a:spcPts val="0"/>
              </a:spcBef>
              <a:buClr>
                <a:srgbClr val="303030"/>
              </a:buClr>
              <a:buSzPts val="3300"/>
            </a:pPr>
            <a:r>
              <a:rPr lang="en-US" sz="3200" b="1" dirty="0" err="1">
                <a:solidFill>
                  <a:srgbClr val="FF0000"/>
                </a:solidFill>
                <a:highlight>
                  <a:srgbClr val="FFFFFF"/>
                </a:highlight>
                <a:latin typeface="K2D" panose="00000500000000000000" pitchFamily="2" charset="-34"/>
                <a:ea typeface="Arial"/>
                <a:cs typeface="Arial"/>
                <a:sym typeface="Arial"/>
              </a:rPr>
              <a:t>Ưu</a:t>
            </a:r>
            <a:r>
              <a:rPr lang="en-US" sz="3200" b="1" dirty="0">
                <a:solidFill>
                  <a:srgbClr val="FF0000"/>
                </a:solidFill>
                <a:highlight>
                  <a:srgbClr val="FFFFFF"/>
                </a:highlight>
                <a:latin typeface="K2D" panose="00000500000000000000" pitchFamily="2" charset="-34"/>
                <a:ea typeface="Arial"/>
                <a:cs typeface="Arial"/>
                <a:sym typeface="Arial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highlight>
                  <a:srgbClr val="FFFFFF"/>
                </a:highlight>
                <a:latin typeface="K2D" panose="00000500000000000000" pitchFamily="2" charset="-34"/>
                <a:ea typeface="Arial"/>
                <a:cs typeface="Arial"/>
                <a:sym typeface="Arial"/>
              </a:rPr>
              <a:t>điểm</a:t>
            </a:r>
            <a:endParaRPr lang="en-US" sz="3200" dirty="0">
              <a:solidFill>
                <a:srgbClr val="30303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438150">
              <a:spcBef>
                <a:spcPts val="0"/>
              </a:spcBef>
              <a:buClr>
                <a:srgbClr val="303030"/>
              </a:buClr>
              <a:buSzPts val="3300"/>
              <a:buFont typeface="Arial"/>
              <a:buChar char="●"/>
            </a:pP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Bao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phủ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nhiều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lĩnh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vực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và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hỗ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trợ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đa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ngôn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ngữ</a:t>
            </a:r>
            <a:endParaRPr lang="en-US" sz="3200" dirty="0">
              <a:solidFill>
                <a:srgbClr val="30303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438150">
              <a:spcBef>
                <a:spcPts val="0"/>
              </a:spcBef>
              <a:buClr>
                <a:srgbClr val="303030"/>
              </a:buClr>
              <a:buSzPts val="3300"/>
              <a:buFont typeface="Arial"/>
              <a:buChar char="●"/>
            </a:pPr>
            <a:endParaRPr lang="en-US" sz="3200" dirty="0">
              <a:solidFill>
                <a:srgbClr val="30303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438150">
              <a:spcBef>
                <a:spcPts val="0"/>
              </a:spcBef>
              <a:buClr>
                <a:srgbClr val="303030"/>
              </a:buClr>
              <a:buSzPts val="3300"/>
              <a:buFont typeface="Arial"/>
              <a:buChar char="●"/>
            </a:pP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Phản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ánh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tri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thức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và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sự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đồng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thuận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của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cộng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đồng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Wikipedia</a:t>
            </a:r>
          </a:p>
          <a:p>
            <a:pPr marL="457200" lvl="0" indent="-438150">
              <a:spcBef>
                <a:spcPts val="0"/>
              </a:spcBef>
              <a:buClr>
                <a:srgbClr val="303030"/>
              </a:buClr>
              <a:buSzPts val="3300"/>
              <a:buFont typeface="Arial"/>
              <a:buChar char="●"/>
            </a:pPr>
            <a:endParaRPr lang="en-US" sz="3200" dirty="0">
              <a:solidFill>
                <a:srgbClr val="30303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438150">
              <a:spcBef>
                <a:spcPts val="0"/>
              </a:spcBef>
              <a:buClr>
                <a:srgbClr val="303030"/>
              </a:buClr>
              <a:buSzPts val="3300"/>
              <a:buFont typeface="Arial"/>
              <a:buChar char="●"/>
            </a:pP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Tự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động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cập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nhật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theo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sự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thay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đổi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của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Wikipedia</a:t>
            </a:r>
          </a:p>
          <a:p>
            <a:pPr marL="457200" lvl="0">
              <a:spcBef>
                <a:spcPts val="0"/>
              </a:spcBef>
            </a:pPr>
            <a:endParaRPr lang="en-US" sz="3200" dirty="0">
              <a:solidFill>
                <a:srgbClr val="30303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438150">
              <a:spcBef>
                <a:spcPts val="0"/>
              </a:spcBef>
              <a:buClr>
                <a:srgbClr val="303030"/>
              </a:buClr>
              <a:buSzPts val="3300"/>
              <a:buFont typeface="Arial"/>
              <a:buChar char="●"/>
            </a:pP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Dữ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liệu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mở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miễn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phí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theo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giấy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phép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Creative Commons </a:t>
            </a:r>
            <a:r>
              <a:rPr lang="en-US" sz="3200" dirty="0" err="1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và</a:t>
            </a:r>
            <a:r>
              <a:rPr lang="en-US" sz="3200" dirty="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GNU FDL</a:t>
            </a:r>
          </a:p>
        </p:txBody>
      </p:sp>
    </p:spTree>
    <p:extLst>
      <p:ext uri="{BB962C8B-B14F-4D97-AF65-F5344CB8AC3E}">
        <p14:creationId xmlns:p14="http://schemas.microsoft.com/office/powerpoint/2010/main" val="4012518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51A2-6F60-A914-3C9F-023E5CDA2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8933E-B46B-2D81-36AD-D6EC908B5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DBPedia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D68543-EE38-1C90-9113-F65EAAB662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06311"/>
            <a:ext cx="11037711" cy="5125159"/>
          </a:xfrm>
        </p:spPr>
        <p:txBody>
          <a:bodyPr>
            <a:noAutofit/>
          </a:bodyPr>
          <a:lstStyle/>
          <a:p>
            <a:pPr marL="19050">
              <a:spcBef>
                <a:spcPts val="0"/>
              </a:spcBef>
              <a:buClr>
                <a:srgbClr val="303030"/>
              </a:buClr>
              <a:buSzPts val="3300"/>
            </a:pPr>
            <a:r>
              <a:rPr lang="en-US" sz="3200" b="1" dirty="0" err="1">
                <a:solidFill>
                  <a:srgbClr val="FF0000"/>
                </a:solidFill>
                <a:highlight>
                  <a:srgbClr val="FFFFFF"/>
                </a:highlight>
                <a:latin typeface="K2D" panose="00000500000000000000" pitchFamily="2" charset="-34"/>
                <a:ea typeface="Arial"/>
                <a:cs typeface="Arial"/>
                <a:sym typeface="Arial"/>
              </a:rPr>
              <a:t>Ví</a:t>
            </a:r>
            <a:r>
              <a:rPr lang="en-US" sz="3200" b="1" dirty="0">
                <a:solidFill>
                  <a:srgbClr val="FF0000"/>
                </a:solidFill>
                <a:highlight>
                  <a:srgbClr val="FFFFFF"/>
                </a:highlight>
                <a:latin typeface="K2D" panose="00000500000000000000" pitchFamily="2" charset="-34"/>
                <a:ea typeface="Arial"/>
                <a:cs typeface="Arial"/>
                <a:sym typeface="Arial"/>
              </a:rPr>
              <a:t> </a:t>
            </a:r>
            <a:r>
              <a:rPr lang="en-US" sz="3200" b="1" dirty="0" err="1">
                <a:solidFill>
                  <a:srgbClr val="FF0000"/>
                </a:solidFill>
                <a:highlight>
                  <a:srgbClr val="FFFFFF"/>
                </a:highlight>
                <a:latin typeface="K2D" panose="00000500000000000000" pitchFamily="2" charset="-34"/>
                <a:ea typeface="Arial"/>
                <a:cs typeface="Arial"/>
                <a:sym typeface="Arial"/>
              </a:rPr>
              <a:t>dụ</a:t>
            </a:r>
            <a:endParaRPr lang="en-US" sz="3200" dirty="0">
              <a:solidFill>
                <a:srgbClr val="30303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BB65BD-6636-8C8A-BED9-F6B3C3BB7A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743" y="1754827"/>
            <a:ext cx="9832622" cy="4375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414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5F3F8-7420-1E4A-1498-9D3940AB3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4CBFF-856A-5455-A057-168E25412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TBox</a:t>
            </a:r>
            <a:r>
              <a:rPr lang="en-US" dirty="0"/>
              <a:t> Protege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0CF978-6270-44E7-38DF-353CFB3F6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06311"/>
            <a:ext cx="11037711" cy="5125159"/>
          </a:xfrm>
        </p:spPr>
        <p:txBody>
          <a:bodyPr>
            <a:noAutofit/>
          </a:bodyPr>
          <a:lstStyle/>
          <a:p>
            <a:pPr marL="19050">
              <a:spcBef>
                <a:spcPts val="0"/>
              </a:spcBef>
              <a:buClr>
                <a:srgbClr val="303030"/>
              </a:buClr>
              <a:buSzPts val="3300"/>
            </a:pPr>
            <a:r>
              <a:rPr lang="en-US" sz="3200" b="1" dirty="0">
                <a:solidFill>
                  <a:srgbClr val="FF0000"/>
                </a:solidFill>
                <a:highlight>
                  <a:srgbClr val="FFFFFF"/>
                </a:highlight>
                <a:latin typeface="K2D" panose="00000500000000000000" pitchFamily="2" charset="-34"/>
                <a:ea typeface="Arial"/>
                <a:cs typeface="Arial"/>
                <a:sym typeface="Arial"/>
              </a:rPr>
              <a:t>Class</a:t>
            </a:r>
            <a:endParaRPr lang="en-US" sz="3200" dirty="0">
              <a:solidFill>
                <a:srgbClr val="30303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AD014B-49C5-4660-EBF3-B847FFE66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0897" y="1058675"/>
            <a:ext cx="7763958" cy="522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31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3E3C6-763C-E525-F32D-14310F67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52F84-DA74-E74C-8FB1-7C4E1D0CF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TBox</a:t>
            </a:r>
            <a:r>
              <a:rPr lang="en-US" dirty="0"/>
              <a:t> Protege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8D13ED-2CE0-3B8D-5DEA-888D834931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06311"/>
            <a:ext cx="11037711" cy="5125159"/>
          </a:xfrm>
        </p:spPr>
        <p:txBody>
          <a:bodyPr>
            <a:noAutofit/>
          </a:bodyPr>
          <a:lstStyle/>
          <a:p>
            <a:pPr marL="19050">
              <a:spcBef>
                <a:spcPts val="0"/>
              </a:spcBef>
              <a:buClr>
                <a:srgbClr val="303030"/>
              </a:buClr>
              <a:buSzPts val="3300"/>
            </a:pPr>
            <a:r>
              <a:rPr lang="en-US" sz="3200" b="1" dirty="0">
                <a:solidFill>
                  <a:srgbClr val="FF0000"/>
                </a:solidFill>
                <a:highlight>
                  <a:srgbClr val="FFFFFF"/>
                </a:highlight>
                <a:latin typeface="K2D" panose="00000500000000000000" pitchFamily="2" charset="-34"/>
                <a:ea typeface="Arial"/>
                <a:cs typeface="Arial"/>
                <a:sym typeface="Arial"/>
              </a:rPr>
              <a:t>Object properties</a:t>
            </a:r>
            <a:endParaRPr lang="en-US" sz="3200" dirty="0">
              <a:solidFill>
                <a:srgbClr val="30303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EF1659-E719-382D-C8CE-3DD2668BD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051" y="1710651"/>
            <a:ext cx="8592749" cy="4610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673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1747A-D4D1-5F2B-1AE2-71FBB13FB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9AE5F-8A51-81D7-26B0-3BE0C9776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TBox</a:t>
            </a:r>
            <a:r>
              <a:rPr lang="en-US" dirty="0"/>
              <a:t> Protege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292D4A-9B22-4BD1-47FA-F1B1CFB37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06311"/>
            <a:ext cx="11037711" cy="5125159"/>
          </a:xfrm>
        </p:spPr>
        <p:txBody>
          <a:bodyPr>
            <a:noAutofit/>
          </a:bodyPr>
          <a:lstStyle/>
          <a:p>
            <a:pPr marL="19050">
              <a:spcBef>
                <a:spcPts val="0"/>
              </a:spcBef>
              <a:buClr>
                <a:srgbClr val="303030"/>
              </a:buClr>
              <a:buSzPts val="3300"/>
            </a:pPr>
            <a:r>
              <a:rPr lang="en-US" sz="3200" b="1" dirty="0">
                <a:solidFill>
                  <a:srgbClr val="FF0000"/>
                </a:solidFill>
                <a:highlight>
                  <a:srgbClr val="FFFFFF"/>
                </a:highlight>
                <a:latin typeface="K2D" panose="00000500000000000000" pitchFamily="2" charset="-34"/>
                <a:ea typeface="Arial"/>
                <a:cs typeface="Arial"/>
                <a:sym typeface="Arial"/>
              </a:rPr>
              <a:t>Data properties</a:t>
            </a:r>
            <a:endParaRPr lang="en-US" sz="3200" dirty="0">
              <a:solidFill>
                <a:srgbClr val="30303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06B6CF-AA19-0930-E9E4-D2DD98DBC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4711" y="1587833"/>
            <a:ext cx="7809089" cy="4728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698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76F88-9F92-4A50-4D7B-B774C38B4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D88B9-B9E4-FEF1-F97D-DD2492667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TBox</a:t>
            </a:r>
            <a:r>
              <a:rPr lang="en-US" dirty="0"/>
              <a:t> Protege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C7A8E94-4A4C-49A4-86DD-517A76EF2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06311"/>
            <a:ext cx="11037711" cy="5125159"/>
          </a:xfrm>
        </p:spPr>
        <p:txBody>
          <a:bodyPr>
            <a:noAutofit/>
          </a:bodyPr>
          <a:lstStyle/>
          <a:p>
            <a:pPr marL="19050">
              <a:spcBef>
                <a:spcPts val="0"/>
              </a:spcBef>
              <a:buClr>
                <a:srgbClr val="303030"/>
              </a:buClr>
              <a:buSzPts val="3300"/>
            </a:pPr>
            <a:r>
              <a:rPr lang="en-US" sz="3200" b="1" dirty="0" err="1">
                <a:solidFill>
                  <a:srgbClr val="FF0000"/>
                </a:solidFill>
                <a:highlight>
                  <a:srgbClr val="FFFFFF"/>
                </a:highlight>
                <a:latin typeface="K2D" panose="00000500000000000000" pitchFamily="2" charset="-34"/>
                <a:ea typeface="Arial"/>
                <a:cs typeface="Arial"/>
                <a:sym typeface="Arial"/>
              </a:rPr>
              <a:t>TBox</a:t>
            </a:r>
            <a:r>
              <a:rPr lang="en-US" sz="3200" b="1" dirty="0">
                <a:solidFill>
                  <a:srgbClr val="FF0000"/>
                </a:solidFill>
                <a:highlight>
                  <a:srgbClr val="FFFFFF"/>
                </a:highlight>
                <a:latin typeface="K2D" panose="00000500000000000000" pitchFamily="2" charset="-34"/>
                <a:ea typeface="Arial"/>
                <a:cs typeface="Arial"/>
                <a:sym typeface="Arial"/>
              </a:rPr>
              <a:t> graph</a:t>
            </a:r>
            <a:endParaRPr lang="en-US" sz="3200" dirty="0">
              <a:solidFill>
                <a:srgbClr val="30303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20EB05-B0FD-019F-CE63-552E4421F9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6731" y="1071255"/>
            <a:ext cx="7857069" cy="516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363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2F72C-1CEA-20A7-5754-448D6BA40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FD858-9C31-D31A-A309-98639E8E6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ABox</a:t>
            </a:r>
            <a:r>
              <a:rPr lang="en-US" dirty="0"/>
              <a:t> Protege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8658D0-2FBF-26BD-39F2-B6F4F09A8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9419" y="1085244"/>
            <a:ext cx="6413161" cy="5265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596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C895F-92AE-D0C8-B6FC-D5F1EC504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862CA-412A-88B2-F360-C82B9E4FE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User Interface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7FB8D164-001B-846F-53C7-BD087A8C8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2744"/>
            <a:ext cx="10515600" cy="4600724"/>
          </a:xfrm>
        </p:spPr>
        <p:txBody>
          <a:bodyPr>
            <a:normAutofit/>
          </a:bodyPr>
          <a:lstStyle/>
          <a:p>
            <a:pPr lvl="0" indent="-381000">
              <a:spcBef>
                <a:spcPts val="0"/>
              </a:spcBef>
              <a:buClr>
                <a:srgbClr val="303030"/>
              </a:buClr>
              <a:buFont typeface="Arial"/>
              <a:buChar char="●"/>
            </a:pPr>
            <a:r>
              <a:rPr lang="en-US" dirty="0">
                <a:solidFill>
                  <a:srgbClr val="303030"/>
                </a:solidFill>
                <a:latin typeface="Arial"/>
                <a:ea typeface="Arial"/>
                <a:cs typeface="Arial"/>
                <a:sym typeface="Arial"/>
              </a:rPr>
              <a:t>Render UI webapp local </a:t>
            </a:r>
            <a:r>
              <a:rPr lang="en-US" dirty="0" err="1">
                <a:solidFill>
                  <a:srgbClr val="303030"/>
                </a:solidFill>
                <a:latin typeface="Arial"/>
                <a:ea typeface="Arial"/>
                <a:cs typeface="Arial"/>
                <a:sym typeface="Arial"/>
              </a:rPr>
              <a:t>bằng</a:t>
            </a:r>
            <a:r>
              <a:rPr lang="en-US" dirty="0">
                <a:solidFill>
                  <a:srgbClr val="303030"/>
                </a:solidFill>
                <a:latin typeface="Arial"/>
                <a:ea typeface="Arial"/>
                <a:cs typeface="Arial"/>
                <a:sym typeface="Arial"/>
              </a:rPr>
              <a:t> Python </a:t>
            </a:r>
            <a:r>
              <a:rPr lang="en-US" dirty="0" err="1">
                <a:solidFill>
                  <a:srgbClr val="303030"/>
                </a:solidFill>
                <a:latin typeface="Arial"/>
                <a:ea typeface="Arial"/>
                <a:cs typeface="Arial"/>
                <a:sym typeface="Arial"/>
              </a:rPr>
              <a:t>HTTPServer</a:t>
            </a:r>
            <a:endParaRPr lang="en-US" dirty="0">
              <a:solidFill>
                <a:srgbClr val="30303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indent="-381000">
              <a:spcBef>
                <a:spcPts val="0"/>
              </a:spcBef>
              <a:buClr>
                <a:srgbClr val="303030"/>
              </a:buClr>
              <a:buFont typeface="Arial"/>
              <a:buChar char="●"/>
            </a:pPr>
            <a:endParaRPr lang="vi-VN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7DD891-7790-3FCE-3071-65EB16B3B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864" y="1618600"/>
            <a:ext cx="10448272" cy="4600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304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15D14-7B76-4767-3989-5C3239D4C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F4053-619B-2DBF-B3D8-AFF31B76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User Interface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326E90E-FF15-4CC6-EA7B-C2C3037C4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504" y="1110624"/>
            <a:ext cx="10640992" cy="5129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85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CÁM ƠN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5236</TotalTime>
  <Words>298</Words>
  <Application>Microsoft Office PowerPoint</Application>
  <PresentationFormat>Widescreen</PresentationFormat>
  <Paragraphs>65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Readex Pro</vt:lpstr>
      <vt:lpstr>Barlow</vt:lpstr>
      <vt:lpstr>Times New Roman</vt:lpstr>
      <vt:lpstr>Arial</vt:lpstr>
      <vt:lpstr>Aptos</vt:lpstr>
      <vt:lpstr>K2D</vt:lpstr>
      <vt:lpstr>Office Theme</vt:lpstr>
      <vt:lpstr>WEB NGỮ NGHĨA </vt:lpstr>
      <vt:lpstr>WEB NGỮ NGHĨA</vt:lpstr>
      <vt:lpstr>NỘI DUNG BÁO CÁO</vt:lpstr>
      <vt:lpstr>1. DBPedia</vt:lpstr>
      <vt:lpstr>1. DBPedia</vt:lpstr>
      <vt:lpstr>1. DBPedia</vt:lpstr>
      <vt:lpstr>2. TBox Protege</vt:lpstr>
      <vt:lpstr>2. TBox Protege</vt:lpstr>
      <vt:lpstr>2. TBox Protege</vt:lpstr>
      <vt:lpstr>2. TBox Protege</vt:lpstr>
      <vt:lpstr>3. ABox Protege</vt:lpstr>
      <vt:lpstr>4. User Interface</vt:lpstr>
      <vt:lpstr>4. User Interface</vt:lpstr>
      <vt:lpstr>CÁM ƠN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Trần Minh Trí</cp:lastModifiedBy>
  <cp:revision>312</cp:revision>
  <dcterms:created xsi:type="dcterms:W3CDTF">2022-07-01T08:15:51Z</dcterms:created>
  <dcterms:modified xsi:type="dcterms:W3CDTF">2026-01-08T03:48:06Z</dcterms:modified>
</cp:coreProperties>
</file>