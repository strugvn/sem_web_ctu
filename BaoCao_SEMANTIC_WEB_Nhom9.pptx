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70" r:id="rId2"/>
    <p:sldId id="265" r:id="rId3"/>
    <p:sldId id="25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1" r:id="rId15"/>
  </p:sldIdLst>
  <p:sldSz cx="12192000" cy="6858000"/>
  <p:notesSz cx="6858000" cy="9144000"/>
  <p:embeddedFontLst>
    <p:embeddedFont>
      <p:font typeface="Barlow" panose="00000500000000000000" pitchFamily="2" charset="0"/>
      <p:regular r:id="rId17"/>
      <p:bold r:id="rId18"/>
      <p:italic r:id="rId19"/>
      <p:boldItalic r:id="rId20"/>
    </p:embeddedFont>
    <p:embeddedFont>
      <p:font typeface="K2D" panose="020B0604020202020204" charset="-34"/>
      <p:regular r:id="rId21"/>
      <p:bold r:id="rId22"/>
      <p:italic r:id="rId23"/>
      <p:boldItalic r:id="rId24"/>
    </p:embeddedFont>
    <p:embeddedFont>
      <p:font typeface="Readex Pro" panose="020B0604020202020204" charset="-78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F5CAA"/>
    <a:srgbClr val="CCFFFF"/>
    <a:srgbClr val="00AFEF"/>
    <a:srgbClr val="FFFFFF"/>
    <a:srgbClr val="27ACE3"/>
    <a:srgbClr val="1F5CA9"/>
    <a:srgbClr val="F2F2F2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1" autoAdjust="0"/>
    <p:restoredTop sz="82163" autoAdjust="0"/>
  </p:normalViewPr>
  <p:slideViewPr>
    <p:cSldViewPr snapToGrid="0">
      <p:cViewPr varScale="1">
        <p:scale>
          <a:sx n="68" d="100"/>
          <a:sy n="68" d="100"/>
        </p:scale>
        <p:origin x="1363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0EBDB-B800-4472-951A-F0B6461FE765}" type="datetimeFigureOut">
              <a:rPr lang="en-US" smtClean="0"/>
              <a:t>09-Jan-26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4555B-D98A-46B5-9D24-18A787425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8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9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39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9630-2562-60DF-A04F-31EE5AD8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E032C-F5EB-72BA-61B5-AABC41897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9848D-5637-C7B0-09AA-5795D09DB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9C44-02A3-3DCE-D8F2-B25889B48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0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D4934-6247-640F-6A60-5688C131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7B6F8-886B-6E3C-5776-D382FDB90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C6F17-01CF-123A-EEC4-F48BE8DE8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E7B3A-6631-73C3-86F1-19EE0F453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10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79534-B40C-AB69-3DB3-42BAFBE5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BA083-9E39-30D6-A424-16A54E6EE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CE166-4825-A820-8DB1-48BD442C1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3DA16-8539-00E7-D52E-2E7040073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29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66AB-C05C-97D8-B238-542FC04A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6F1C-A587-229E-C825-ABF2E5EC8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8F75A-6276-734C-610E-C58B81FD5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10319-1E2D-35E9-2307-A55CA3659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15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2577-71D4-EC52-701F-AB105C28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694AE-6F3F-D027-1733-05954C943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BF608-AB12-0EF7-EC68-5A246D1D3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32596-77DD-4D09-C426-7BEFC80CC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14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B7BD-B047-FFAD-1A1A-07B0F65B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16145-B3BB-7B48-0DC9-7C674D1D2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C6CE8-79BD-B7F2-6317-A6F291D58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A33C1-F9C3-B9D5-309D-EB87F9220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48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25DB8-665C-C0DD-A955-20DE79D6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BDDCB-3F3C-AFC1-E946-09F620235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FC2A7-8EF0-6856-7D27-3A348FBD1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E60FA-57E4-202A-8E05-0FC6D2999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1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55E6-F15D-88ED-0DB4-94A8CB5E2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782CA-E711-E552-D1F9-E502CAD32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4E4D9-2E9A-5BAE-5E68-5FF9C4E48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7DF9-93F8-5C85-676D-1B061438F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58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ED12-EB00-8F44-A540-137E121A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0DDC7-DB67-B2A8-3093-447BE19DB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E33D8-536C-EB4D-E474-E5560DAE8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9FF49-88EE-8DE1-A09A-079C21FB5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555B-D98A-46B5-9D24-18A7874255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1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09-Jan-26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09-Jan-26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11D788B-033B-559F-A87C-34370F16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02" y="2456719"/>
            <a:ext cx="11995265" cy="1855310"/>
          </a:xfrm>
        </p:spPr>
        <p:txBody>
          <a:bodyPr>
            <a:normAutofit/>
          </a:bodyPr>
          <a:lstStyle/>
          <a:p>
            <a:r>
              <a:rPr lang="en-US" dirty="0"/>
              <a:t>WEB NGỮ NGHĨA</a:t>
            </a:r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2098EE8-EB44-1471-DBB3-E5EECB81B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362" y="3773978"/>
            <a:ext cx="11205713" cy="874106"/>
          </a:xfrm>
        </p:spPr>
        <p:txBody>
          <a:bodyPr>
            <a:noAutofit/>
          </a:bodyPr>
          <a:lstStyle/>
          <a:p>
            <a:r>
              <a:rPr lang="en-US" sz="2800" dirty="0" err="1"/>
              <a:t>DBpedia</a:t>
            </a:r>
            <a:r>
              <a:rPr lang="en-US" sz="2800" dirty="0"/>
              <a:t>-based Ontology for Movies and Countries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16181AC-E50A-B876-5295-E5B3C637B8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5" y="4924425"/>
            <a:ext cx="3895976" cy="977611"/>
          </a:xfrm>
        </p:spPr>
        <p:txBody>
          <a:bodyPr/>
          <a:lstStyle/>
          <a:p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Giáo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Viên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Hướng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dẫn</a:t>
            </a:r>
            <a:endParaRPr lang="en-US" dirty="0">
              <a:latin typeface="K2D" panose="020B0604020202020204" charset="-34"/>
              <a:cs typeface="K2D" panose="020B0604020202020204" charset="-34"/>
            </a:endParaRPr>
          </a:p>
          <a:p>
            <a:r>
              <a:rPr lang="en-US" dirty="0">
                <a:latin typeface="K2D" panose="020B0604020202020204" charset="-34"/>
                <a:cs typeface="K2D" panose="020B0604020202020204" charset="-34"/>
              </a:rPr>
              <a:t>TS. Trần Công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Án</a:t>
            </a:r>
            <a:endParaRPr lang="en-US" dirty="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70119" y="1718384"/>
            <a:ext cx="82891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 HỌC CẦN THƠ</a:t>
            </a:r>
            <a:br>
              <a:rPr lang="vi-VN" sz="2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vi-VN" sz="2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 CÔNG NGHỆ THÔNG TIN &amp; TRUYỀN THÔNG</a:t>
            </a:r>
            <a:br>
              <a:rPr lang="vi-VN" sz="2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vi-VN" sz="2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-----------------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🕮 ------------------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8710" y="5000701"/>
            <a:ext cx="3801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Nhóm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học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viên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thực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hiện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: </a:t>
            </a:r>
          </a:p>
          <a:p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1.</a:t>
            </a:r>
            <a:r>
              <a:rPr lang="vi-VN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vi-VN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M2524011	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Võ Thanh Luân</a:t>
            </a:r>
          </a:p>
          <a:p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2. M2524023	Ngô Quốc Thanh</a:t>
            </a:r>
          </a:p>
          <a:p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3.</a:t>
            </a:r>
            <a:r>
              <a:rPr lang="vi-VN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 M252402</a:t>
            </a:r>
            <a:r>
              <a:rPr lang="en-US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5</a:t>
            </a:r>
            <a:r>
              <a:rPr lang="vi-VN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	</a:t>
            </a:r>
            <a:r>
              <a:rPr lang="en-US" dirty="0">
                <a:solidFill>
                  <a:schemeClr val="bg1"/>
                </a:solidFill>
                <a:latin typeface="K2D" panose="020B0604020202020204" charset="-34"/>
                <a:cs typeface="K2D" panose="020B0604020202020204" charset="-34"/>
              </a:rPr>
              <a:t>Trần Minh Trí</a:t>
            </a:r>
          </a:p>
          <a:p>
            <a:endParaRPr lang="en-US" dirty="0">
              <a:latin typeface="K2D" panose="020B0604020202020204" charset="-34"/>
              <a:cs typeface="K2D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512832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9C82-E165-4291-296C-0B6D29685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32466"/>
            <a:ext cx="12191999" cy="1855310"/>
          </a:xfrm>
        </p:spPr>
        <p:txBody>
          <a:bodyPr>
            <a:normAutofit/>
          </a:bodyPr>
          <a:lstStyle/>
          <a:p>
            <a:r>
              <a:rPr lang="en-US" sz="4000" dirty="0"/>
              <a:t>WEB NGỮ NGHĨA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16181AC-E50A-B876-5295-E5B3C637B8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5" y="4924425"/>
            <a:ext cx="3895976" cy="977611"/>
          </a:xfrm>
        </p:spPr>
        <p:txBody>
          <a:bodyPr/>
          <a:lstStyle/>
          <a:p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Giáo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Viên </a:t>
            </a:r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Hướng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dẫn</a:t>
            </a:r>
            <a:endParaRPr lang="en-US" dirty="0">
              <a:solidFill>
                <a:srgbClr val="1F5CAA"/>
              </a:solidFill>
              <a:latin typeface="K2D" panose="020B0604020202020204" charset="-34"/>
              <a:cs typeface="K2D" panose="020B0604020202020204" charset="-34"/>
            </a:endParaRPr>
          </a:p>
          <a:p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TS. Trần Công </a:t>
            </a:r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Án</a:t>
            </a:r>
            <a:endParaRPr lang="en-US" dirty="0">
              <a:solidFill>
                <a:srgbClr val="1F5CAA"/>
              </a:solidFill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2098EE8-EB44-1471-DBB3-E5EECB81B3C9}"/>
              </a:ext>
            </a:extLst>
          </p:cNvPr>
          <p:cNvSpPr txBox="1">
            <a:spLocks/>
          </p:cNvSpPr>
          <p:nvPr/>
        </p:nvSpPr>
        <p:spPr>
          <a:xfrm>
            <a:off x="426640" y="3250276"/>
            <a:ext cx="11205713" cy="874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baseline="0">
                <a:solidFill>
                  <a:srgbClr val="0070C0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 err="1">
                <a:solidFill>
                  <a:srgbClr val="FF0000"/>
                </a:solidFill>
                <a:latin typeface="K2D" panose="020B0604020202020204" charset="-34"/>
                <a:cs typeface="K2D" panose="020B0604020202020204" charset="-34"/>
              </a:rPr>
              <a:t>DBpedia</a:t>
            </a:r>
            <a:r>
              <a:rPr lang="en-US" sz="3000" dirty="0">
                <a:solidFill>
                  <a:srgbClr val="FF0000"/>
                </a:solidFill>
                <a:latin typeface="K2D" panose="020B0604020202020204" charset="-34"/>
                <a:cs typeface="K2D" panose="020B0604020202020204" charset="-34"/>
              </a:rPr>
              <a:t>-based Ontology for Movies and Countries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8710" y="5017327"/>
            <a:ext cx="3801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Nhóm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học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viên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thực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hiện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: </a:t>
            </a:r>
          </a:p>
          <a:p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1.</a:t>
            </a:r>
            <a:r>
              <a:rPr lang="vi-VN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vi-VN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M2524011	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Võ Thanh Luân</a:t>
            </a:r>
          </a:p>
          <a:p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2. M2524023	Ngô Quốc Thanh</a:t>
            </a:r>
          </a:p>
          <a:p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3.</a:t>
            </a:r>
            <a:r>
              <a:rPr lang="vi-VN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 M252402</a:t>
            </a:r>
            <a:r>
              <a:rPr lang="en-US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5</a:t>
            </a:r>
            <a:r>
              <a:rPr lang="vi-VN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	</a:t>
            </a:r>
            <a:r>
              <a:rPr lang="en-US" dirty="0">
                <a:solidFill>
                  <a:srgbClr val="1F5CAA"/>
                </a:solidFill>
                <a:latin typeface="K2D" panose="020B0604020202020204" charset="-34"/>
                <a:cs typeface="K2D" panose="020B0604020202020204" charset="-34"/>
              </a:rPr>
              <a:t>Trần Minh Trí</a:t>
            </a:r>
          </a:p>
          <a:p>
            <a:endParaRPr lang="en-US" dirty="0">
              <a:solidFill>
                <a:srgbClr val="1F5CAA"/>
              </a:solidFill>
              <a:latin typeface="K2D" panose="020B0604020202020204" charset="-34"/>
              <a:cs typeface="K2D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3140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BÁO CÁO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98" y="1418301"/>
            <a:ext cx="10515600" cy="3261280"/>
          </a:xfrm>
        </p:spPr>
        <p:txBody>
          <a:bodyPr>
            <a:normAutofit lnSpcReduction="10000"/>
          </a:bodyPr>
          <a:lstStyle/>
          <a:p>
            <a:pPr marL="742950" indent="-742950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Giới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thiệu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DBPedia</a:t>
            </a:r>
            <a:endParaRPr lang="en-US" sz="3600" b="1" dirty="0">
              <a:solidFill>
                <a:srgbClr val="0070C0"/>
              </a:solidFill>
              <a:latin typeface="K2D" panose="00000500000000000000" pitchFamily="2" charset="-34"/>
              <a:ea typeface="+mj-ea"/>
              <a:cs typeface="+mj-cs"/>
            </a:endParaRPr>
          </a:p>
          <a:p>
            <a:pPr marL="742950" indent="-742950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TBox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 Protege</a:t>
            </a:r>
          </a:p>
          <a:p>
            <a:pPr marL="742950" indent="-742950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ABox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 Protege</a:t>
            </a:r>
          </a:p>
          <a:p>
            <a:pPr marL="742950" indent="-742950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DBPedia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AA354F-FEFD-6B0B-87BA-F9476BA46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068"/>
            <a:ext cx="10515600" cy="4470400"/>
          </a:xfrm>
        </p:spPr>
        <p:txBody>
          <a:bodyPr>
            <a:normAutofit lnSpcReduction="10000"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1100"/>
            </a:pPr>
            <a:endParaRPr lang="vi-VN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 indent="-381000">
              <a:spcBef>
                <a:spcPts val="0"/>
              </a:spcBef>
              <a:buClr>
                <a:srgbClr val="303030"/>
              </a:buClr>
              <a:buFont typeface="Arial"/>
              <a:buChar char="●"/>
            </a:pPr>
            <a:r>
              <a:rPr lang="vi-VN" sz="3600" dirty="0" err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DBpedia</a:t>
            </a:r>
            <a:r>
              <a:rPr lang="vi-VN" sz="3600" dirty="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là dự án trích xuất và chuẩn hóa tri thức từ </a:t>
            </a:r>
            <a:r>
              <a:rPr lang="vi-VN" sz="3600" dirty="0" err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Wikipedia</a:t>
            </a:r>
            <a:r>
              <a:rPr lang="vi-VN" sz="3600" dirty="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dưới dạng dữ liệu có cấu trúc</a:t>
            </a:r>
          </a:p>
          <a:p>
            <a:pPr marL="76200" lvl="0">
              <a:spcBef>
                <a:spcPts val="0"/>
              </a:spcBef>
              <a:buClr>
                <a:srgbClr val="303030"/>
              </a:buClr>
            </a:pPr>
            <a:endParaRPr lang="vi-VN" sz="36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 indent="-381000">
              <a:spcBef>
                <a:spcPts val="0"/>
              </a:spcBef>
              <a:buClr>
                <a:srgbClr val="303030"/>
              </a:buClr>
              <a:buFont typeface="Arial"/>
              <a:buChar char="●"/>
            </a:pPr>
            <a:r>
              <a:rPr lang="vi-VN" sz="3600" dirty="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Cung cấp đồ thị tri thức mở, hỗ trợ liên kết và chia sẻ dữ liệu giữa các hệ thống</a:t>
            </a:r>
          </a:p>
          <a:p>
            <a:pPr lvl="0" indent="-381000">
              <a:spcBef>
                <a:spcPts val="0"/>
              </a:spcBef>
              <a:buClr>
                <a:srgbClr val="303030"/>
              </a:buClr>
              <a:buFont typeface="Arial"/>
              <a:buChar char="●"/>
            </a:pPr>
            <a:endParaRPr lang="vi-VN" sz="36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 indent="-381000">
              <a:spcBef>
                <a:spcPts val="0"/>
              </a:spcBef>
              <a:buClr>
                <a:srgbClr val="303030"/>
              </a:buClr>
              <a:buFont typeface="Arial"/>
              <a:buChar char="●"/>
            </a:pPr>
            <a:r>
              <a:rPr lang="vi-VN" sz="3600" dirty="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Cho phép truy vấn và khai thác thông tin ngữ nghĩa thông qua SPARQL và </a:t>
            </a:r>
            <a:r>
              <a:rPr lang="vi-VN" sz="3600" dirty="0" err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Linked</a:t>
            </a:r>
            <a:r>
              <a:rPr lang="vi-VN" sz="3600" dirty="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3600" dirty="0" err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lang="vi-VN" sz="3600" dirty="0">
              <a:solidFill>
                <a:srgbClr val="1A1A1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0"/>
              </a:spcBef>
              <a:buClr>
                <a:schemeClr val="dk1"/>
              </a:buClr>
              <a:buSzPts val="2400"/>
            </a:pPr>
            <a:endParaRPr lang="vi-VN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355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1DFF-087C-DA23-E1D5-91BEB8FB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6304-B201-0765-3E49-C7AC28D5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DBPedia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A173E2-B015-88B1-EE03-92453B548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6311"/>
            <a:ext cx="11037711" cy="5125159"/>
          </a:xfrm>
        </p:spPr>
        <p:txBody>
          <a:bodyPr>
            <a:noAutofit/>
          </a:bodyPr>
          <a:lstStyle/>
          <a:p>
            <a:pPr marL="19050">
              <a:spcBef>
                <a:spcPts val="0"/>
              </a:spcBef>
              <a:buClr>
                <a:srgbClr val="303030"/>
              </a:buClr>
              <a:buSzPts val="3300"/>
            </a:pPr>
            <a:r>
              <a:rPr lang="en-US" sz="3200" b="1" dirty="0" err="1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Ưu</a:t>
            </a:r>
            <a:r>
              <a:rPr lang="en-US" sz="3200" b="1" dirty="0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điểm</a:t>
            </a: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>
              <a:spcBef>
                <a:spcPts val="0"/>
              </a:spcBef>
              <a:buClr>
                <a:srgbClr val="303030"/>
              </a:buClr>
              <a:buSzPts val="3300"/>
              <a:buFont typeface="Arial"/>
              <a:buChar char="●"/>
            </a:pP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Bao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phủ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nhiều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lĩnh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vực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hỗ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trợ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đa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ngôn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ngữ</a:t>
            </a: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>
              <a:spcBef>
                <a:spcPts val="0"/>
              </a:spcBef>
              <a:buClr>
                <a:srgbClr val="303030"/>
              </a:buClr>
              <a:buSzPts val="3300"/>
              <a:buFont typeface="Arial"/>
              <a:buChar char="●"/>
            </a:pP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>
              <a:spcBef>
                <a:spcPts val="0"/>
              </a:spcBef>
              <a:buClr>
                <a:srgbClr val="303030"/>
              </a:buClr>
              <a:buSzPts val="3300"/>
              <a:buFont typeface="Arial"/>
              <a:buChar char="●"/>
            </a:pP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Phản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ánh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tri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thức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sự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đồng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thuận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cộng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đồng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Wikipedia</a:t>
            </a:r>
          </a:p>
          <a:p>
            <a:pPr marL="457200" lvl="0" indent="-438150">
              <a:spcBef>
                <a:spcPts val="0"/>
              </a:spcBef>
              <a:buClr>
                <a:srgbClr val="303030"/>
              </a:buClr>
              <a:buSzPts val="3300"/>
              <a:buFont typeface="Arial"/>
              <a:buChar char="●"/>
            </a:pP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>
              <a:spcBef>
                <a:spcPts val="0"/>
              </a:spcBef>
              <a:buClr>
                <a:srgbClr val="303030"/>
              </a:buClr>
              <a:buSzPts val="3300"/>
              <a:buFont typeface="Arial"/>
              <a:buChar char="●"/>
            </a:pP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Tự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cập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nhật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sự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thay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đổi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Wikipedia</a:t>
            </a:r>
          </a:p>
          <a:p>
            <a:pPr marL="457200" lvl="0">
              <a:spcBef>
                <a:spcPts val="0"/>
              </a:spcBef>
            </a:pP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>
              <a:spcBef>
                <a:spcPts val="0"/>
              </a:spcBef>
              <a:buClr>
                <a:srgbClr val="303030"/>
              </a:buClr>
              <a:buSzPts val="3300"/>
              <a:buFont typeface="Arial"/>
              <a:buChar char="●"/>
            </a:pP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mở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miễn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phí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giấy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phép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Creative Commons </a:t>
            </a:r>
            <a:r>
              <a:rPr lang="en-US" sz="3200" dirty="0" err="1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200" dirty="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GNU FDL</a:t>
            </a:r>
          </a:p>
        </p:txBody>
      </p:sp>
    </p:spTree>
    <p:extLst>
      <p:ext uri="{BB962C8B-B14F-4D97-AF65-F5344CB8AC3E}">
        <p14:creationId xmlns:p14="http://schemas.microsoft.com/office/powerpoint/2010/main" val="401251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51A2-6F60-A914-3C9F-023E5CDA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933E-B46B-2D81-36AD-D6EC908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DBPedia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68543-EE38-1C90-9113-F65EAAB66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6311"/>
            <a:ext cx="11037711" cy="5125159"/>
          </a:xfrm>
        </p:spPr>
        <p:txBody>
          <a:bodyPr>
            <a:noAutofit/>
          </a:bodyPr>
          <a:lstStyle/>
          <a:p>
            <a:pPr marL="19050">
              <a:spcBef>
                <a:spcPts val="0"/>
              </a:spcBef>
              <a:buClr>
                <a:srgbClr val="303030"/>
              </a:buClr>
              <a:buSzPts val="3300"/>
            </a:pPr>
            <a:r>
              <a:rPr lang="en-US" sz="3200" b="1" dirty="0" err="1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Ví</a:t>
            </a:r>
            <a:r>
              <a:rPr lang="en-US" sz="3200" b="1" dirty="0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dụ</a:t>
            </a: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B65BD-6636-8C8A-BED9-F6B3C3BB7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743" y="1754827"/>
            <a:ext cx="9832622" cy="437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1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F3F8-7420-1E4A-1498-9D3940AB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4CBFF-856A-5455-A057-168E2541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TBox</a:t>
            </a:r>
            <a:r>
              <a:rPr lang="en-US" dirty="0"/>
              <a:t> Protege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0CF978-6270-44E7-38DF-353CFB3F6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6311"/>
            <a:ext cx="11037711" cy="5125159"/>
          </a:xfrm>
        </p:spPr>
        <p:txBody>
          <a:bodyPr>
            <a:noAutofit/>
          </a:bodyPr>
          <a:lstStyle/>
          <a:p>
            <a:pPr marL="19050">
              <a:spcBef>
                <a:spcPts val="0"/>
              </a:spcBef>
              <a:buClr>
                <a:srgbClr val="303030"/>
              </a:buClr>
              <a:buSzPts val="3300"/>
            </a:pPr>
            <a:r>
              <a:rPr lang="en-US" sz="3200" b="1" dirty="0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Class</a:t>
            </a: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AD014B-49C5-4660-EBF3-B847FFE66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897" y="1058675"/>
            <a:ext cx="7763958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3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E3C6-763C-E525-F32D-14310F67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52F84-DA74-E74C-8FB1-7C4E1D0C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TBox</a:t>
            </a:r>
            <a:r>
              <a:rPr lang="en-US" dirty="0"/>
              <a:t> Protege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8D13ED-2CE0-3B8D-5DEA-888D83493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6311"/>
            <a:ext cx="11037711" cy="5125159"/>
          </a:xfrm>
        </p:spPr>
        <p:txBody>
          <a:bodyPr>
            <a:noAutofit/>
          </a:bodyPr>
          <a:lstStyle/>
          <a:p>
            <a:pPr marL="19050">
              <a:spcBef>
                <a:spcPts val="0"/>
              </a:spcBef>
              <a:buClr>
                <a:srgbClr val="303030"/>
              </a:buClr>
              <a:buSzPts val="3300"/>
            </a:pPr>
            <a:r>
              <a:rPr lang="en-US" sz="3200" b="1" dirty="0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Object properties</a:t>
            </a: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F1659-E719-382D-C8CE-3DD2668BD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051" y="1710651"/>
            <a:ext cx="8592749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73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747A-D4D1-5F2B-1AE2-71FBB13F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AE5F-8A51-81D7-26B0-3BE0C9776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TBox</a:t>
            </a:r>
            <a:r>
              <a:rPr lang="en-US" dirty="0"/>
              <a:t> Protege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292D4A-9B22-4BD1-47FA-F1B1CFB37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6311"/>
            <a:ext cx="11037711" cy="5125159"/>
          </a:xfrm>
        </p:spPr>
        <p:txBody>
          <a:bodyPr>
            <a:noAutofit/>
          </a:bodyPr>
          <a:lstStyle/>
          <a:p>
            <a:pPr marL="19050">
              <a:spcBef>
                <a:spcPts val="0"/>
              </a:spcBef>
              <a:buClr>
                <a:srgbClr val="303030"/>
              </a:buClr>
              <a:buSzPts val="3300"/>
            </a:pPr>
            <a:r>
              <a:rPr lang="en-US" sz="3200" b="1" dirty="0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Data properties</a:t>
            </a: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6B6CF-AA19-0930-E9E4-D2DD98DBC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711" y="1587833"/>
            <a:ext cx="7809089" cy="472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69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76F88-9F92-4A50-4D7B-B774C38B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88B9-B9E4-FEF1-F97D-DD249266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TBox</a:t>
            </a:r>
            <a:r>
              <a:rPr lang="en-US" dirty="0"/>
              <a:t> Protege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7A8E94-4A4C-49A4-86DD-517A76EF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6311"/>
            <a:ext cx="11037711" cy="5125159"/>
          </a:xfrm>
        </p:spPr>
        <p:txBody>
          <a:bodyPr>
            <a:noAutofit/>
          </a:bodyPr>
          <a:lstStyle/>
          <a:p>
            <a:pPr marL="19050">
              <a:spcBef>
                <a:spcPts val="0"/>
              </a:spcBef>
              <a:buClr>
                <a:srgbClr val="303030"/>
              </a:buClr>
              <a:buSzPts val="3300"/>
            </a:pPr>
            <a:r>
              <a:rPr lang="en-US" sz="3200" b="1" dirty="0" err="1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TBox</a:t>
            </a:r>
            <a:r>
              <a:rPr lang="en-US" sz="3200" b="1" dirty="0">
                <a:solidFill>
                  <a:srgbClr val="FF0000"/>
                </a:solidFill>
                <a:highlight>
                  <a:srgbClr val="FFFFFF"/>
                </a:highlight>
                <a:latin typeface="K2D" panose="00000500000000000000" pitchFamily="2" charset="-34"/>
                <a:ea typeface="Arial"/>
                <a:cs typeface="Arial"/>
                <a:sym typeface="Arial"/>
              </a:rPr>
              <a:t> graph</a:t>
            </a:r>
            <a:endParaRPr lang="en-US" sz="3200" dirty="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1927B-2965-3C67-CF9F-1154759B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636" y="1219201"/>
            <a:ext cx="6683023" cy="511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F72C-1CEA-20A7-5754-448D6BA4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D858-9C31-D31A-A309-98639E8E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ABox</a:t>
            </a:r>
            <a:r>
              <a:rPr lang="en-US" dirty="0"/>
              <a:t> Protege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658D0-2FBF-26BD-39F2-B6F4F09A8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419" y="1085244"/>
            <a:ext cx="6413161" cy="526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96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895F-92AE-D0C8-B6FC-D5F1EC50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62CA-412A-88B2-F360-C82B9E4FE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User Interface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FB8D164-001B-846F-53C7-BD087A8C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744"/>
            <a:ext cx="10515600" cy="4600724"/>
          </a:xfrm>
        </p:spPr>
        <p:txBody>
          <a:bodyPr>
            <a:normAutofit/>
          </a:bodyPr>
          <a:lstStyle/>
          <a:p>
            <a:pPr lvl="0" indent="-381000">
              <a:spcBef>
                <a:spcPts val="0"/>
              </a:spcBef>
              <a:buClr>
                <a:srgbClr val="303030"/>
              </a:buClr>
              <a:buFont typeface="Arial"/>
              <a:buChar char="●"/>
            </a:pPr>
            <a:r>
              <a:rPr lang="en-US" dirty="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Render UI webapp local </a:t>
            </a:r>
            <a:r>
              <a:rPr lang="en-US" dirty="0" err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dirty="0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Python </a:t>
            </a:r>
            <a:r>
              <a:rPr lang="en-US" dirty="0" err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HTTPServer</a:t>
            </a:r>
            <a:endParaRPr lang="en-US" dirty="0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-381000">
              <a:spcBef>
                <a:spcPts val="0"/>
              </a:spcBef>
              <a:buClr>
                <a:srgbClr val="303030"/>
              </a:buClr>
              <a:buFont typeface="Arial"/>
              <a:buChar char="●"/>
            </a:pPr>
            <a:endParaRPr lang="vi-VN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DD891-7790-3FCE-3071-65EB16B3B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64" y="1618600"/>
            <a:ext cx="10448272" cy="460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4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5D14-7B76-4767-3989-5C3239D4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4053-619B-2DBF-B3D8-AFF31B76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User Interface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26E90E-FF15-4CC6-EA7B-C2C3037C4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04" y="1110624"/>
            <a:ext cx="10640992" cy="512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CÁM ƠN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5236</TotalTime>
  <Words>298</Words>
  <Application>Microsoft Office PowerPoint</Application>
  <PresentationFormat>Widescreen</PresentationFormat>
  <Paragraphs>65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Times New Roman</vt:lpstr>
      <vt:lpstr>K2D</vt:lpstr>
      <vt:lpstr>Readex Pro</vt:lpstr>
      <vt:lpstr>Arial</vt:lpstr>
      <vt:lpstr>Aptos</vt:lpstr>
      <vt:lpstr>Barlow</vt:lpstr>
      <vt:lpstr>Office Theme</vt:lpstr>
      <vt:lpstr>WEB NGỮ NGHĨA </vt:lpstr>
      <vt:lpstr>WEB NGỮ NGHĨA</vt:lpstr>
      <vt:lpstr>NỘI DUNG BÁO CÁO</vt:lpstr>
      <vt:lpstr>1. DBPedia</vt:lpstr>
      <vt:lpstr>1. DBPedia</vt:lpstr>
      <vt:lpstr>1. DBPedia</vt:lpstr>
      <vt:lpstr>2. TBox Protege</vt:lpstr>
      <vt:lpstr>2. TBox Protege</vt:lpstr>
      <vt:lpstr>2. TBox Protege</vt:lpstr>
      <vt:lpstr>2. TBox Protege</vt:lpstr>
      <vt:lpstr>3. ABox Protege</vt:lpstr>
      <vt:lpstr>4. User Interface</vt:lpstr>
      <vt:lpstr>4. User Interface</vt:lpstr>
      <vt:lpstr>CÁM ƠN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Trần Minh Trí</cp:lastModifiedBy>
  <cp:revision>313</cp:revision>
  <dcterms:created xsi:type="dcterms:W3CDTF">2022-07-01T08:15:51Z</dcterms:created>
  <dcterms:modified xsi:type="dcterms:W3CDTF">2026-01-09T07:10:02Z</dcterms:modified>
</cp:coreProperties>
</file>